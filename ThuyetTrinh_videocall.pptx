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65" r:id="rId5"/>
    <p:sldId id="258" r:id="rId6"/>
    <p:sldId id="271" r:id="rId7"/>
    <p:sldId id="279" r:id="rId8"/>
    <p:sldId id="285" r:id="rId9"/>
    <p:sldId id="262" r:id="rId10"/>
    <p:sldId id="263" r:id="rId11"/>
    <p:sldId id="268" r:id="rId12"/>
    <p:sldId id="260" r:id="rId13"/>
    <p:sldId id="261" r:id="rId14"/>
    <p:sldId id="264" r:id="rId15"/>
    <p:sldId id="266" r:id="rId16"/>
    <p:sldId id="267" r:id="rId17"/>
    <p:sldId id="269" r:id="rId18"/>
  </p:sldIdLst>
  <p:sldSz cx="12192000" cy="6858000"/>
  <p:notesSz cx="6858000" cy="91440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Fira Sans" panose="020B0503050000020004"/>
      <p:regular r:id="rId26"/>
      <p:bold r:id="rId27"/>
      <p:italic r:id="rId28"/>
      <p:boldItalic r:id="rId29"/>
    </p:embeddedFont>
    <p:embeddedFont>
      <p:font typeface="Fira Sans Extra Condensed" panose="020B0503050000020004"/>
      <p:regular r:id="rId30"/>
      <p:bold r:id="rId31"/>
      <p:italic r:id="rId32"/>
      <p:boldItalic r:id="rId33"/>
    </p:embeddedFont>
    <p:embeddedFont>
      <p:font typeface="Arial Black" panose="020B0A04020102020204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6" name="Google Shape;506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2" name="Google Shape;27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5" name="Google Shape;745;p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4" name="Google Shape;1004;p2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5" name="Google Shape;1295;p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2" name="Google Shape;422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" name="Google Shape;446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" name="Google Shape;626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7" name="Google Shape;397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5" name="Google Shape;475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8" name="Google Shape;538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6" name="Google Shape;586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3" name="Google Shape;673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9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9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9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9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9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60" descr="Text&#10;&#10;Description automatically generated with low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0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1" name="Google Shape;101;p60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0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0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3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3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3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4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4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4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5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5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5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5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6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66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6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6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7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7"/>
          <p:cNvSpPr txBox="1"/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67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7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7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6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68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8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8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9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9"/>
          <p:cNvSpPr txBox="1"/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141" name="Google Shape;141;p69"/>
          <p:cNvSpPr txBox="1"/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69"/>
          <p:cNvSpPr txBox="1"/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143" name="Google Shape;143;p69"/>
          <p:cNvSpPr txBox="1"/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69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9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9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0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0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70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70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1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1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1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2"/>
          <p:cNvSpPr txBox="1"/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9" name="Google Shape;159;p72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0" name="Google Shape;160;p72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2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72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73"/>
          <p:cNvSpPr/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73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7" name="Google Shape;167;p73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3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73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74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74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74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74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5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75"/>
          <p:cNvSpPr txBox="1"/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75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75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75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8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0" y="0"/>
            <a:ext cx="12192000" cy="82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58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8" name="Google Shape;88;p58"/>
          <p:cNvSpPr txBox="1"/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9" name="Google Shape;89;p58"/>
          <p:cNvSpPr txBox="1"/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0" name="Google Shape;90;p58"/>
          <p:cNvSpPr txBox="1"/>
          <p:nvPr>
            <p:ph type="sldNum" idx="12"/>
          </p:nvPr>
        </p:nvSpPr>
        <p:spPr>
          <a:xfrm>
            <a:off x="9328231" y="6436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"/>
          <p:cNvGrpSpPr/>
          <p:nvPr/>
        </p:nvGrpSpPr>
        <p:grpSpPr>
          <a:xfrm>
            <a:off x="538852" y="2175085"/>
            <a:ext cx="1685487" cy="448546"/>
            <a:chOff x="1941540" y="4044910"/>
            <a:chExt cx="1685705" cy="448604"/>
          </a:xfrm>
        </p:grpSpPr>
        <p:sp>
          <p:nvSpPr>
            <p:cNvPr id="262" name="Google Shape;262;p2"/>
            <p:cNvSpPr/>
            <p:nvPr/>
          </p:nvSpPr>
          <p:spPr>
            <a:xfrm>
              <a:off x="1999200" y="4044910"/>
              <a:ext cx="1556886" cy="448604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6987" y="4075642"/>
              <a:ext cx="1486800" cy="3871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" name="Google Shape;264;p2"/>
            <p:cNvSpPr txBox="1"/>
            <p:nvPr/>
          </p:nvSpPr>
          <p:spPr>
            <a:xfrm>
              <a:off x="1941540" y="4075642"/>
              <a:ext cx="1685705" cy="400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 u="none" strike="noStrike" cap="none">
                  <a:solidFill>
                    <a:schemeClr val="lt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NHÓM __</a:t>
              </a:r>
              <a:endParaRPr sz="2000" b="1" i="1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65" name="Google Shape;265;p2"/>
          <p:cNvSpPr txBox="1"/>
          <p:nvPr/>
        </p:nvSpPr>
        <p:spPr>
          <a:xfrm>
            <a:off x="-483149" y="2771890"/>
            <a:ext cx="9290572" cy="76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Lập trình thiết bị di </a:t>
            </a:r>
            <a:r>
              <a:rPr lang="" altLang="en-US" sz="4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4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ộng</a:t>
            </a:r>
            <a:endParaRPr lang="en-US" altLang="en-US" sz="44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2326640" y="3541395"/>
            <a:ext cx="760603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Chủ đề: </a:t>
            </a:r>
            <a:r>
              <a:rPr lang="en-US" altLang="en-US" sz="2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</a:t>
            </a:r>
            <a:r>
              <a:rPr lang="" altLang="en-US" sz="2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Ì</a:t>
            </a:r>
            <a:r>
              <a:rPr lang="en-US" altLang="en-US" sz="2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 HIỂU CÔNG NGHỆ AGORA RTC SDK</a:t>
            </a:r>
            <a:endParaRPr lang="en-US" altLang="en-US" sz="24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7" name="Google Shape;267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29471" y="5366777"/>
            <a:ext cx="2841019" cy="107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" descr="图片包含 植物, 鲜花&#10;&#10;描述已自动生成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556229"/>
            <a:ext cx="2226055" cy="1847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8392" y="2849516"/>
            <a:ext cx="4958172" cy="4958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10"/>
          <p:cNvGrpSpPr/>
          <p:nvPr/>
        </p:nvGrpSpPr>
        <p:grpSpPr>
          <a:xfrm>
            <a:off x="2135312" y="1519467"/>
            <a:ext cx="3076575" cy="1341754"/>
            <a:chOff x="2578028" y="1783088"/>
            <a:chExt cx="3076575" cy="1341752"/>
          </a:xfrm>
        </p:grpSpPr>
        <p:sp>
          <p:nvSpPr>
            <p:cNvPr id="509" name="Google Shape;509;p10"/>
            <p:cNvSpPr txBox="1"/>
            <p:nvPr/>
          </p:nvSpPr>
          <p:spPr>
            <a:xfrm>
              <a:off x="2611048" y="2150117"/>
              <a:ext cx="3043555" cy="974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Nắm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đư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ợc khái niệm,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ặc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iểm và các chức n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ng chính của Agora RTC SDK</a:t>
              </a:r>
              <a:endParaRPr lang="en-US" altLang="en-US" sz="1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2578028" y="1783088"/>
              <a:ext cx="2927350" cy="397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00" b="1" i="1">
                  <a:solidFill>
                    <a:srgbClr val="FB750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Tìm hiểu công nghệ:</a:t>
              </a:r>
              <a:endParaRPr lang="en-US" altLang="en-US" sz="2000" b="1" i="1">
                <a:solidFill>
                  <a:srgbClr val="FB750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031986" y="1484647"/>
            <a:ext cx="4291330" cy="1334770"/>
            <a:chOff x="6959593" y="1787007"/>
            <a:chExt cx="4291328" cy="1334772"/>
          </a:xfrm>
        </p:grpSpPr>
        <p:sp>
          <p:nvSpPr>
            <p:cNvPr id="512" name="Google Shape;512;p10"/>
            <p:cNvSpPr txBox="1"/>
            <p:nvPr/>
          </p:nvSpPr>
          <p:spPr>
            <a:xfrm>
              <a:off x="7088498" y="2147053"/>
              <a:ext cx="2971799" cy="9747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Hiểu cách thiết lập kết nối, xử l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ý 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và truyền tải âm thanh, video theo thời gian thực.</a:t>
              </a:r>
              <a:endParaRPr lang="en-US" altLang="en-US" sz="1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6959593" y="1787007"/>
              <a:ext cx="4291328" cy="397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Phân tích nguyên l</a:t>
              </a:r>
              <a:r>
                <a:rPr lang="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ý </a:t>
              </a:r>
              <a:r>
                <a:rPr lang="en-US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hoạt </a:t>
              </a:r>
              <a:r>
                <a:rPr lang="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ộng:</a:t>
              </a:r>
              <a:endParaRPr lang="en-US" altLang="en-US" sz="2000" b="1" i="1">
                <a:solidFill>
                  <a:srgbClr val="4B28F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14" name="Google Shape;514;p10"/>
          <p:cNvGrpSpPr/>
          <p:nvPr/>
        </p:nvGrpSpPr>
        <p:grpSpPr>
          <a:xfrm>
            <a:off x="2207745" y="4725926"/>
            <a:ext cx="4324350" cy="1609090"/>
            <a:chOff x="4360119" y="3593664"/>
            <a:chExt cx="4324350" cy="1609090"/>
          </a:xfrm>
        </p:grpSpPr>
        <p:sp>
          <p:nvSpPr>
            <p:cNvPr id="515" name="Google Shape;515;p10"/>
            <p:cNvSpPr txBox="1"/>
            <p:nvPr/>
          </p:nvSpPr>
          <p:spPr>
            <a:xfrm>
              <a:off x="4360119" y="3932754"/>
              <a:ext cx="3307715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Tìm hiểu cách sử dụng Agora RTC SDK trong Flutter và kết hợp với Firebase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ể quản l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ý 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cuộc gọi.</a:t>
              </a:r>
              <a:endParaRPr lang="en-US" altLang="en-US" sz="1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4360119" y="3593664"/>
              <a:ext cx="4324350" cy="397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Nghiên cứu khả n</a:t>
              </a:r>
              <a:r>
                <a:rPr lang="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altLang="en-US" sz="2000" b="1" i="1">
                  <a:solidFill>
                    <a:srgbClr val="4B28F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ng tích hợp:</a:t>
              </a:r>
              <a:endParaRPr lang="en-US" altLang="en-US" sz="2000" b="1" i="1">
                <a:solidFill>
                  <a:srgbClr val="4B28F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17" name="Google Shape;517;p10"/>
          <p:cNvGrpSpPr/>
          <p:nvPr/>
        </p:nvGrpSpPr>
        <p:grpSpPr>
          <a:xfrm>
            <a:off x="7968782" y="4725926"/>
            <a:ext cx="3568065" cy="1528445"/>
            <a:chOff x="8566041" y="3888304"/>
            <a:chExt cx="3568065" cy="1528445"/>
          </a:xfrm>
        </p:grpSpPr>
        <p:sp>
          <p:nvSpPr>
            <p:cNvPr id="518" name="Google Shape;518;p10"/>
            <p:cNvSpPr txBox="1"/>
            <p:nvPr/>
          </p:nvSpPr>
          <p:spPr>
            <a:xfrm>
              <a:off x="8758446" y="4146749"/>
              <a:ext cx="307340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Phân tích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ư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iểm, hạn chế và tính phù hợp của Agora RTC SDK 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ối với ứng dụng gọi video.</a:t>
              </a:r>
              <a:endParaRPr lang="en-US" altLang="en-US" sz="1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8566041" y="3888304"/>
              <a:ext cx="3568065" cy="397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" altLang="en-US" sz="2000" b="1" i="1">
                  <a:solidFill>
                    <a:srgbClr val="FB750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2000" b="1" i="1">
                  <a:solidFill>
                    <a:srgbClr val="FB750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ánh giá công nghệ:</a:t>
              </a:r>
              <a:endParaRPr lang="en-US" altLang="en-US" sz="2000" b="1" i="1">
                <a:solidFill>
                  <a:srgbClr val="FB750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20" name="Google Shape;520;p10"/>
          <p:cNvGrpSpPr/>
          <p:nvPr/>
        </p:nvGrpSpPr>
        <p:grpSpPr>
          <a:xfrm>
            <a:off x="691976" y="1648372"/>
            <a:ext cx="1406745" cy="1260915"/>
            <a:chOff x="1136474" y="2189392"/>
            <a:chExt cx="1406745" cy="1260915"/>
          </a:xfrm>
        </p:grpSpPr>
        <p:sp>
          <p:nvSpPr>
            <p:cNvPr id="521" name="Google Shape;521;p10"/>
            <p:cNvSpPr/>
            <p:nvPr/>
          </p:nvSpPr>
          <p:spPr>
            <a:xfrm>
              <a:off x="1136474" y="2189392"/>
              <a:ext cx="1251618" cy="1251616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1291601" y="2189392"/>
              <a:ext cx="1251618" cy="1251616"/>
            </a:xfrm>
            <a:prstGeom prst="ellipse">
              <a:avLst/>
            </a:prstGeom>
            <a:solidFill>
              <a:srgbClr val="FF7412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3" name="Google Shape;523;p10"/>
            <p:cNvSpPr txBox="1"/>
            <p:nvPr/>
          </p:nvSpPr>
          <p:spPr>
            <a:xfrm>
              <a:off x="1464168" y="2344772"/>
              <a:ext cx="643488" cy="1105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24" name="Google Shape;524;p10"/>
          <p:cNvGrpSpPr/>
          <p:nvPr/>
        </p:nvGrpSpPr>
        <p:grpSpPr>
          <a:xfrm>
            <a:off x="6455748" y="1609637"/>
            <a:ext cx="1433839" cy="1271629"/>
            <a:chOff x="5527377" y="2189392"/>
            <a:chExt cx="1433838" cy="1271629"/>
          </a:xfrm>
        </p:grpSpPr>
        <p:sp>
          <p:nvSpPr>
            <p:cNvPr id="525" name="Google Shape;525;p10"/>
            <p:cNvSpPr/>
            <p:nvPr/>
          </p:nvSpPr>
          <p:spPr>
            <a:xfrm>
              <a:off x="5527377" y="2189392"/>
              <a:ext cx="1251618" cy="1251616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5709597" y="2189392"/>
              <a:ext cx="1251618" cy="1251616"/>
            </a:xfrm>
            <a:prstGeom prst="ellipse">
              <a:avLst/>
            </a:prstGeom>
            <a:solidFill>
              <a:srgbClr val="4B28FC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7" name="Google Shape;527;p10"/>
            <p:cNvSpPr txBox="1"/>
            <p:nvPr/>
          </p:nvSpPr>
          <p:spPr>
            <a:xfrm>
              <a:off x="5859131" y="2355486"/>
              <a:ext cx="643488" cy="1105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28" name="Google Shape;528;p10"/>
          <p:cNvGrpSpPr/>
          <p:nvPr/>
        </p:nvGrpSpPr>
        <p:grpSpPr>
          <a:xfrm>
            <a:off x="689897" y="4809682"/>
            <a:ext cx="1414935" cy="1251616"/>
            <a:chOff x="2861243" y="3673513"/>
            <a:chExt cx="1414934" cy="1251616"/>
          </a:xfrm>
        </p:grpSpPr>
        <p:sp>
          <p:nvSpPr>
            <p:cNvPr id="529" name="Google Shape;529;p10"/>
            <p:cNvSpPr/>
            <p:nvPr/>
          </p:nvSpPr>
          <p:spPr>
            <a:xfrm>
              <a:off x="2861243" y="3673513"/>
              <a:ext cx="1251618" cy="1251616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3024559" y="3673513"/>
              <a:ext cx="1251618" cy="1251616"/>
            </a:xfrm>
            <a:prstGeom prst="ellipse">
              <a:avLst/>
            </a:prstGeom>
            <a:solidFill>
              <a:srgbClr val="4B28FC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1" name="Google Shape;531;p10"/>
            <p:cNvSpPr txBox="1"/>
            <p:nvPr/>
          </p:nvSpPr>
          <p:spPr>
            <a:xfrm>
              <a:off x="2984475" y="3815916"/>
              <a:ext cx="643488" cy="1105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6456211" y="5058602"/>
            <a:ext cx="1413151" cy="1251616"/>
            <a:chOff x="7252146" y="3673513"/>
            <a:chExt cx="1413151" cy="1251616"/>
          </a:xfrm>
        </p:grpSpPr>
        <p:sp>
          <p:nvSpPr>
            <p:cNvPr id="533" name="Google Shape;533;p10"/>
            <p:cNvSpPr/>
            <p:nvPr/>
          </p:nvSpPr>
          <p:spPr>
            <a:xfrm>
              <a:off x="7252146" y="3673513"/>
              <a:ext cx="1251618" cy="1251616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7413679" y="3673513"/>
              <a:ext cx="1251618" cy="1251616"/>
            </a:xfrm>
            <a:prstGeom prst="ellipse">
              <a:avLst/>
            </a:prstGeom>
            <a:solidFill>
              <a:srgbClr val="FF7412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5" name="Google Shape;535;p10"/>
            <p:cNvSpPr txBox="1"/>
            <p:nvPr/>
          </p:nvSpPr>
          <p:spPr>
            <a:xfrm>
              <a:off x="7513308" y="3815916"/>
              <a:ext cx="643488" cy="1105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" name="Text Box 0"/>
          <p:cNvSpPr txBox="1"/>
          <p:nvPr/>
        </p:nvSpPr>
        <p:spPr>
          <a:xfrm>
            <a:off x="8112125" y="260350"/>
            <a:ext cx="4601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200" b="1">
                <a:solidFill>
                  <a:srgbClr val="FF0000"/>
                </a:solidFill>
              </a:rPr>
              <a:t>Mục tiêu của bài</a:t>
            </a:r>
            <a:endParaRPr lang="vi-VN" altLang="en-US" sz="3200" b="1">
              <a:solidFill>
                <a:srgbClr val="FF0000"/>
              </a:solidFill>
            </a:endParaRPr>
          </a:p>
        </p:txBody>
      </p:sp>
      <p:grpSp>
        <p:nvGrpSpPr>
          <p:cNvPr id="3" name="Google Shape;517;p10"/>
          <p:cNvGrpSpPr/>
          <p:nvPr/>
        </p:nvGrpSpPr>
        <p:grpSpPr>
          <a:xfrm>
            <a:off x="5735955" y="2957195"/>
            <a:ext cx="3606165" cy="1600604"/>
            <a:chOff x="8758446" y="3815914"/>
            <a:chExt cx="2677795" cy="1600604"/>
          </a:xfrm>
        </p:grpSpPr>
        <p:sp>
          <p:nvSpPr>
            <p:cNvPr id="4" name="Google Shape;518;p10"/>
            <p:cNvSpPr txBox="1"/>
            <p:nvPr/>
          </p:nvSpPr>
          <p:spPr>
            <a:xfrm>
              <a:off x="8758446" y="4146518"/>
              <a:ext cx="2281924" cy="1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Làm r</a:t>
              </a:r>
              <a:r>
                <a:rPr lang="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õ </a:t>
              </a:r>
              <a:r>
                <a:rPr lang="en-US" altLang="en-US" sz="16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vai trò của RTC Engine, App ID, Channel ID, UID, RTC Token và hạ tầng Agora SD-RTN.</a:t>
              </a:r>
              <a:endParaRPr lang="en-US" altLang="en-US" sz="1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" name="Google Shape;519;p10"/>
            <p:cNvSpPr/>
            <p:nvPr/>
          </p:nvSpPr>
          <p:spPr>
            <a:xfrm>
              <a:off x="8758446" y="3815914"/>
              <a:ext cx="2677795" cy="397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00" b="1" i="1">
                  <a:solidFill>
                    <a:srgbClr val="FB750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Tìm hiểu kiến trúc hệ thống:</a:t>
              </a:r>
              <a:endParaRPr lang="en-US" altLang="en-US" sz="2000" b="1" i="1">
                <a:solidFill>
                  <a:srgbClr val="FB750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" name="Google Shape;532;p10"/>
          <p:cNvGrpSpPr/>
          <p:nvPr/>
        </p:nvGrpSpPr>
        <p:grpSpPr>
          <a:xfrm>
            <a:off x="4224186" y="3281872"/>
            <a:ext cx="1413151" cy="1251616"/>
            <a:chOff x="7252146" y="3673513"/>
            <a:chExt cx="1413151" cy="1251616"/>
          </a:xfrm>
        </p:grpSpPr>
        <p:sp>
          <p:nvSpPr>
            <p:cNvPr id="7" name="Google Shape;533;p10"/>
            <p:cNvSpPr/>
            <p:nvPr/>
          </p:nvSpPr>
          <p:spPr>
            <a:xfrm>
              <a:off x="7252146" y="3673513"/>
              <a:ext cx="1251618" cy="1251616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534;p10"/>
            <p:cNvSpPr/>
            <p:nvPr/>
          </p:nvSpPr>
          <p:spPr>
            <a:xfrm>
              <a:off x="7413679" y="3673513"/>
              <a:ext cx="1251618" cy="1251616"/>
            </a:xfrm>
            <a:prstGeom prst="ellipse">
              <a:avLst/>
            </a:prstGeom>
            <a:solidFill>
              <a:srgbClr val="FF7412"/>
            </a:solidFill>
            <a:ln w="38100" cap="flat" cmpd="sng">
              <a:solidFill>
                <a:srgbClr val="01000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535;p10"/>
            <p:cNvSpPr txBox="1"/>
            <p:nvPr/>
          </p:nvSpPr>
          <p:spPr>
            <a:xfrm>
              <a:off x="7513308" y="3815916"/>
              <a:ext cx="643488" cy="1105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"/>
          <p:cNvGrpSpPr/>
          <p:nvPr/>
        </p:nvGrpSpPr>
        <p:grpSpPr>
          <a:xfrm>
            <a:off x="601046" y="1269745"/>
            <a:ext cx="5097145" cy="1060659"/>
            <a:chOff x="642754" y="1800088"/>
            <a:chExt cx="5097144" cy="1060658"/>
          </a:xfrm>
        </p:grpSpPr>
        <p:grpSp>
          <p:nvGrpSpPr>
            <p:cNvPr id="275" name="Google Shape;275;p3"/>
            <p:cNvGrpSpPr/>
            <p:nvPr/>
          </p:nvGrpSpPr>
          <p:grpSpPr>
            <a:xfrm>
              <a:off x="642754" y="1871705"/>
              <a:ext cx="4981462" cy="989041"/>
              <a:chOff x="508001" y="1871705"/>
              <a:chExt cx="4981462" cy="989041"/>
            </a:xfrm>
          </p:grpSpPr>
          <p:sp>
            <p:nvSpPr>
              <p:cNvPr id="276" name="Google Shape;276;p3"/>
              <p:cNvSpPr/>
              <p:nvPr/>
            </p:nvSpPr>
            <p:spPr>
              <a:xfrm>
                <a:off x="508001" y="1871705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5358014" y="1871705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78" name="Google Shape;278;p3"/>
            <p:cNvGrpSpPr/>
            <p:nvPr/>
          </p:nvGrpSpPr>
          <p:grpSpPr>
            <a:xfrm>
              <a:off x="665254" y="1800088"/>
              <a:ext cx="824049" cy="905639"/>
              <a:chOff x="530501" y="1800088"/>
              <a:chExt cx="824049" cy="905639"/>
            </a:xfrm>
          </p:grpSpPr>
          <p:sp>
            <p:nvSpPr>
              <p:cNvPr id="279" name="Google Shape;279;p3"/>
              <p:cNvSpPr/>
              <p:nvPr/>
            </p:nvSpPr>
            <p:spPr>
              <a:xfrm>
                <a:off x="530501" y="1800088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01</a:t>
                </a:r>
                <a:endParaRPr sz="32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707441" y="1800088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09485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81" name="Google Shape;281;p3"/>
            <p:cNvSpPr/>
            <p:nvPr/>
          </p:nvSpPr>
          <p:spPr>
            <a:xfrm>
              <a:off x="2105521" y="1959508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3"/>
            <p:cNvSpPr txBox="1"/>
            <p:nvPr/>
          </p:nvSpPr>
          <p:spPr>
            <a:xfrm>
              <a:off x="2180724" y="2252843"/>
              <a:ext cx="3559174" cy="188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Tổng quan về Agora RTC SDK</a:t>
              </a:r>
              <a:endParaRPr lang="en-US" altLang="en-US" sz="18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1597326" y="2161346"/>
              <a:ext cx="478050" cy="409758"/>
            </a:xfrm>
            <a:custGeom>
              <a:avLst/>
              <a:gdLst/>
              <a:ahLst/>
              <a:cxnLst/>
              <a:rect l="l" t="t" r="r" b="b"/>
              <a:pathLst>
                <a:path w="256" h="220" extrusionOk="0">
                  <a:moveTo>
                    <a:pt x="196" y="176"/>
                  </a:moveTo>
                  <a:cubicBezTo>
                    <a:pt x="189" y="176"/>
                    <a:pt x="184" y="171"/>
                    <a:pt x="184" y="164"/>
                  </a:cubicBezTo>
                  <a:cubicBezTo>
                    <a:pt x="184" y="157"/>
                    <a:pt x="189" y="152"/>
                    <a:pt x="196" y="152"/>
                  </a:cubicBezTo>
                  <a:cubicBezTo>
                    <a:pt x="216" y="152"/>
                    <a:pt x="232" y="136"/>
                    <a:pt x="232" y="116"/>
                  </a:cubicBezTo>
                  <a:cubicBezTo>
                    <a:pt x="232" y="105"/>
                    <a:pt x="227" y="96"/>
                    <a:pt x="220" y="89"/>
                  </a:cubicBezTo>
                  <a:cubicBezTo>
                    <a:pt x="219" y="88"/>
                    <a:pt x="218" y="88"/>
                    <a:pt x="217" y="87"/>
                  </a:cubicBezTo>
                  <a:cubicBezTo>
                    <a:pt x="217" y="87"/>
                    <a:pt x="217" y="87"/>
                    <a:pt x="217" y="87"/>
                  </a:cubicBezTo>
                  <a:cubicBezTo>
                    <a:pt x="217" y="86"/>
                    <a:pt x="216" y="86"/>
                    <a:pt x="215" y="85"/>
                  </a:cubicBezTo>
                  <a:cubicBezTo>
                    <a:pt x="215" y="85"/>
                    <a:pt x="215" y="85"/>
                    <a:pt x="215" y="85"/>
                  </a:cubicBezTo>
                  <a:cubicBezTo>
                    <a:pt x="214" y="85"/>
                    <a:pt x="213" y="84"/>
                    <a:pt x="212" y="84"/>
                  </a:cubicBezTo>
                  <a:cubicBezTo>
                    <a:pt x="212" y="84"/>
                    <a:pt x="212" y="84"/>
                    <a:pt x="211" y="84"/>
                  </a:cubicBezTo>
                  <a:cubicBezTo>
                    <a:pt x="211" y="83"/>
                    <a:pt x="210" y="83"/>
                    <a:pt x="209" y="83"/>
                  </a:cubicBezTo>
                  <a:cubicBezTo>
                    <a:pt x="209" y="82"/>
                    <a:pt x="209" y="82"/>
                    <a:pt x="208" y="82"/>
                  </a:cubicBezTo>
                  <a:cubicBezTo>
                    <a:pt x="208" y="82"/>
                    <a:pt x="207" y="82"/>
                    <a:pt x="206" y="81"/>
                  </a:cubicBezTo>
                  <a:cubicBezTo>
                    <a:pt x="206" y="81"/>
                    <a:pt x="205" y="81"/>
                    <a:pt x="205" y="81"/>
                  </a:cubicBezTo>
                  <a:cubicBezTo>
                    <a:pt x="204" y="81"/>
                    <a:pt x="204" y="81"/>
                    <a:pt x="203" y="81"/>
                  </a:cubicBezTo>
                  <a:cubicBezTo>
                    <a:pt x="202" y="81"/>
                    <a:pt x="202" y="80"/>
                    <a:pt x="201" y="80"/>
                  </a:cubicBezTo>
                  <a:cubicBezTo>
                    <a:pt x="200" y="80"/>
                    <a:pt x="200" y="80"/>
                    <a:pt x="200" y="80"/>
                  </a:cubicBezTo>
                  <a:cubicBezTo>
                    <a:pt x="198" y="80"/>
                    <a:pt x="197" y="80"/>
                    <a:pt x="196" y="80"/>
                  </a:cubicBezTo>
                  <a:cubicBezTo>
                    <a:pt x="196" y="80"/>
                    <a:pt x="195" y="80"/>
                    <a:pt x="195" y="80"/>
                  </a:cubicBezTo>
                  <a:cubicBezTo>
                    <a:pt x="195" y="78"/>
                    <a:pt x="194" y="76"/>
                    <a:pt x="194" y="74"/>
                  </a:cubicBezTo>
                  <a:cubicBezTo>
                    <a:pt x="193" y="74"/>
                    <a:pt x="193" y="73"/>
                    <a:pt x="193" y="73"/>
                  </a:cubicBezTo>
                  <a:cubicBezTo>
                    <a:pt x="193" y="71"/>
                    <a:pt x="192" y="70"/>
                    <a:pt x="192" y="68"/>
                  </a:cubicBezTo>
                  <a:cubicBezTo>
                    <a:pt x="191" y="68"/>
                    <a:pt x="191" y="67"/>
                    <a:pt x="191" y="67"/>
                  </a:cubicBezTo>
                  <a:cubicBezTo>
                    <a:pt x="190" y="65"/>
                    <a:pt x="190" y="64"/>
                    <a:pt x="189" y="62"/>
                  </a:cubicBezTo>
                  <a:cubicBezTo>
                    <a:pt x="189" y="62"/>
                    <a:pt x="189" y="62"/>
                    <a:pt x="189" y="61"/>
                  </a:cubicBezTo>
                  <a:cubicBezTo>
                    <a:pt x="188" y="60"/>
                    <a:pt x="187" y="58"/>
                    <a:pt x="186" y="57"/>
                  </a:cubicBezTo>
                  <a:cubicBezTo>
                    <a:pt x="174" y="37"/>
                    <a:pt x="153" y="24"/>
                    <a:pt x="128" y="24"/>
                  </a:cubicBezTo>
                  <a:cubicBezTo>
                    <a:pt x="103" y="24"/>
                    <a:pt x="82" y="37"/>
                    <a:pt x="70" y="57"/>
                  </a:cubicBezTo>
                  <a:cubicBezTo>
                    <a:pt x="69" y="58"/>
                    <a:pt x="68" y="60"/>
                    <a:pt x="67" y="61"/>
                  </a:cubicBezTo>
                  <a:cubicBezTo>
                    <a:pt x="67" y="62"/>
                    <a:pt x="67" y="62"/>
                    <a:pt x="67" y="62"/>
                  </a:cubicBezTo>
                  <a:cubicBezTo>
                    <a:pt x="66" y="64"/>
                    <a:pt x="66" y="65"/>
                    <a:pt x="65" y="67"/>
                  </a:cubicBezTo>
                  <a:cubicBezTo>
                    <a:pt x="65" y="67"/>
                    <a:pt x="65" y="68"/>
                    <a:pt x="64" y="68"/>
                  </a:cubicBezTo>
                  <a:cubicBezTo>
                    <a:pt x="64" y="70"/>
                    <a:pt x="63" y="71"/>
                    <a:pt x="63" y="73"/>
                  </a:cubicBezTo>
                  <a:cubicBezTo>
                    <a:pt x="63" y="73"/>
                    <a:pt x="63" y="74"/>
                    <a:pt x="62" y="74"/>
                  </a:cubicBezTo>
                  <a:cubicBezTo>
                    <a:pt x="62" y="76"/>
                    <a:pt x="61" y="78"/>
                    <a:pt x="61" y="80"/>
                  </a:cubicBezTo>
                  <a:cubicBezTo>
                    <a:pt x="61" y="80"/>
                    <a:pt x="60" y="80"/>
                    <a:pt x="60" y="80"/>
                  </a:cubicBezTo>
                  <a:cubicBezTo>
                    <a:pt x="59" y="80"/>
                    <a:pt x="58" y="80"/>
                    <a:pt x="56" y="80"/>
                  </a:cubicBezTo>
                  <a:cubicBezTo>
                    <a:pt x="56" y="80"/>
                    <a:pt x="56" y="80"/>
                    <a:pt x="55" y="80"/>
                  </a:cubicBezTo>
                  <a:cubicBezTo>
                    <a:pt x="54" y="80"/>
                    <a:pt x="54" y="81"/>
                    <a:pt x="53" y="81"/>
                  </a:cubicBezTo>
                  <a:cubicBezTo>
                    <a:pt x="52" y="81"/>
                    <a:pt x="52" y="81"/>
                    <a:pt x="51" y="81"/>
                  </a:cubicBezTo>
                  <a:cubicBezTo>
                    <a:pt x="51" y="81"/>
                    <a:pt x="50" y="81"/>
                    <a:pt x="50" y="81"/>
                  </a:cubicBezTo>
                  <a:cubicBezTo>
                    <a:pt x="49" y="82"/>
                    <a:pt x="48" y="82"/>
                    <a:pt x="48" y="82"/>
                  </a:cubicBezTo>
                  <a:cubicBezTo>
                    <a:pt x="47" y="82"/>
                    <a:pt x="47" y="82"/>
                    <a:pt x="47" y="83"/>
                  </a:cubicBezTo>
                  <a:cubicBezTo>
                    <a:pt x="46" y="83"/>
                    <a:pt x="45" y="83"/>
                    <a:pt x="45" y="84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3" y="84"/>
                    <a:pt x="42" y="85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86"/>
                    <a:pt x="39" y="86"/>
                    <a:pt x="39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8" y="88"/>
                    <a:pt x="37" y="88"/>
                    <a:pt x="36" y="89"/>
                  </a:cubicBezTo>
                  <a:cubicBezTo>
                    <a:pt x="29" y="96"/>
                    <a:pt x="24" y="105"/>
                    <a:pt x="24" y="116"/>
                  </a:cubicBezTo>
                  <a:cubicBezTo>
                    <a:pt x="24" y="136"/>
                    <a:pt x="40" y="152"/>
                    <a:pt x="60" y="152"/>
                  </a:cubicBezTo>
                  <a:cubicBezTo>
                    <a:pt x="67" y="152"/>
                    <a:pt x="72" y="157"/>
                    <a:pt x="72" y="164"/>
                  </a:cubicBezTo>
                  <a:cubicBezTo>
                    <a:pt x="72" y="171"/>
                    <a:pt x="67" y="176"/>
                    <a:pt x="60" y="176"/>
                  </a:cubicBezTo>
                  <a:cubicBezTo>
                    <a:pt x="27" y="176"/>
                    <a:pt x="0" y="149"/>
                    <a:pt x="0" y="116"/>
                  </a:cubicBezTo>
                  <a:cubicBezTo>
                    <a:pt x="0" y="89"/>
                    <a:pt x="18" y="66"/>
                    <a:pt x="42" y="59"/>
                  </a:cubicBezTo>
                  <a:cubicBezTo>
                    <a:pt x="56" y="24"/>
                    <a:pt x="89" y="0"/>
                    <a:pt x="128" y="0"/>
                  </a:cubicBezTo>
                  <a:cubicBezTo>
                    <a:pt x="167" y="0"/>
                    <a:pt x="200" y="24"/>
                    <a:pt x="214" y="59"/>
                  </a:cubicBezTo>
                  <a:cubicBezTo>
                    <a:pt x="238" y="66"/>
                    <a:pt x="256" y="89"/>
                    <a:pt x="256" y="116"/>
                  </a:cubicBezTo>
                  <a:cubicBezTo>
                    <a:pt x="256" y="149"/>
                    <a:pt x="229" y="176"/>
                    <a:pt x="196" y="176"/>
                  </a:cubicBezTo>
                  <a:moveTo>
                    <a:pt x="83" y="148"/>
                  </a:moveTo>
                  <a:cubicBezTo>
                    <a:pt x="119" y="108"/>
                    <a:pt x="119" y="108"/>
                    <a:pt x="119" y="108"/>
                  </a:cubicBezTo>
                  <a:cubicBezTo>
                    <a:pt x="119" y="108"/>
                    <a:pt x="119" y="108"/>
                    <a:pt x="119" y="108"/>
                  </a:cubicBezTo>
                  <a:cubicBezTo>
                    <a:pt x="121" y="106"/>
                    <a:pt x="124" y="104"/>
                    <a:pt x="128" y="104"/>
                  </a:cubicBezTo>
                  <a:cubicBezTo>
                    <a:pt x="132" y="104"/>
                    <a:pt x="135" y="106"/>
                    <a:pt x="137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73" y="148"/>
                    <a:pt x="173" y="148"/>
                    <a:pt x="173" y="148"/>
                  </a:cubicBezTo>
                  <a:cubicBezTo>
                    <a:pt x="173" y="148"/>
                    <a:pt x="173" y="148"/>
                    <a:pt x="173" y="148"/>
                  </a:cubicBezTo>
                  <a:cubicBezTo>
                    <a:pt x="175" y="150"/>
                    <a:pt x="176" y="153"/>
                    <a:pt x="176" y="156"/>
                  </a:cubicBezTo>
                  <a:cubicBezTo>
                    <a:pt x="176" y="163"/>
                    <a:pt x="171" y="168"/>
                    <a:pt x="164" y="168"/>
                  </a:cubicBezTo>
                  <a:cubicBezTo>
                    <a:pt x="160" y="168"/>
                    <a:pt x="157" y="166"/>
                    <a:pt x="155" y="164"/>
                  </a:cubicBezTo>
                  <a:cubicBezTo>
                    <a:pt x="155" y="164"/>
                    <a:pt x="155" y="164"/>
                    <a:pt x="155" y="164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40" y="208"/>
                    <a:pt x="140" y="208"/>
                    <a:pt x="140" y="208"/>
                  </a:cubicBezTo>
                  <a:cubicBezTo>
                    <a:pt x="140" y="215"/>
                    <a:pt x="135" y="220"/>
                    <a:pt x="128" y="220"/>
                  </a:cubicBezTo>
                  <a:cubicBezTo>
                    <a:pt x="121" y="220"/>
                    <a:pt x="116" y="215"/>
                    <a:pt x="116" y="208"/>
                  </a:cubicBezTo>
                  <a:cubicBezTo>
                    <a:pt x="116" y="147"/>
                    <a:pt x="116" y="147"/>
                    <a:pt x="116" y="147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99" y="166"/>
                    <a:pt x="96" y="168"/>
                    <a:pt x="92" y="168"/>
                  </a:cubicBezTo>
                  <a:cubicBezTo>
                    <a:pt x="85" y="168"/>
                    <a:pt x="80" y="163"/>
                    <a:pt x="80" y="156"/>
                  </a:cubicBezTo>
                  <a:cubicBezTo>
                    <a:pt x="80" y="153"/>
                    <a:pt x="81" y="150"/>
                    <a:pt x="83" y="148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84" name="Google Shape;284;p3"/>
          <p:cNvGrpSpPr/>
          <p:nvPr/>
        </p:nvGrpSpPr>
        <p:grpSpPr>
          <a:xfrm>
            <a:off x="1311125" y="2485943"/>
            <a:ext cx="4981463" cy="1060659"/>
            <a:chOff x="642754" y="2975872"/>
            <a:chExt cx="4981462" cy="1060658"/>
          </a:xfrm>
        </p:grpSpPr>
        <p:grpSp>
          <p:nvGrpSpPr>
            <p:cNvPr id="285" name="Google Shape;285;p3"/>
            <p:cNvGrpSpPr/>
            <p:nvPr/>
          </p:nvGrpSpPr>
          <p:grpSpPr>
            <a:xfrm>
              <a:off x="642754" y="3047489"/>
              <a:ext cx="4981462" cy="989041"/>
              <a:chOff x="508001" y="3047489"/>
              <a:chExt cx="4981462" cy="989041"/>
            </a:xfrm>
          </p:grpSpPr>
          <p:sp>
            <p:nvSpPr>
              <p:cNvPr id="286" name="Google Shape;286;p3"/>
              <p:cNvSpPr/>
              <p:nvPr/>
            </p:nvSpPr>
            <p:spPr>
              <a:xfrm>
                <a:off x="508001" y="3047489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5358014" y="3047489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88" name="Google Shape;288;p3"/>
            <p:cNvGrpSpPr/>
            <p:nvPr/>
          </p:nvGrpSpPr>
          <p:grpSpPr>
            <a:xfrm>
              <a:off x="702719" y="2975872"/>
              <a:ext cx="824049" cy="905639"/>
              <a:chOff x="567966" y="2975872"/>
              <a:chExt cx="824049" cy="905639"/>
            </a:xfrm>
          </p:grpSpPr>
          <p:sp>
            <p:nvSpPr>
              <p:cNvPr id="289" name="Google Shape;289;p3"/>
              <p:cNvSpPr/>
              <p:nvPr/>
            </p:nvSpPr>
            <p:spPr>
              <a:xfrm>
                <a:off x="567966" y="2975872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02</a:t>
                </a:r>
                <a:endParaRPr sz="32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7441" y="2975872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1391B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91" name="Google Shape;291;p3"/>
            <p:cNvSpPr/>
            <p:nvPr/>
          </p:nvSpPr>
          <p:spPr>
            <a:xfrm>
              <a:off x="2053451" y="3124497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1539478" y="3310572"/>
              <a:ext cx="478050" cy="462874"/>
            </a:xfrm>
            <a:custGeom>
              <a:avLst/>
              <a:gdLst/>
              <a:ahLst/>
              <a:cxnLst/>
              <a:rect l="l" t="t" r="r" b="b"/>
              <a:pathLst>
                <a:path w="256" h="248" extrusionOk="0">
                  <a:moveTo>
                    <a:pt x="256" y="236"/>
                  </a:moveTo>
                  <a:cubicBezTo>
                    <a:pt x="256" y="236"/>
                    <a:pt x="256" y="236"/>
                    <a:pt x="256" y="236"/>
                  </a:cubicBezTo>
                  <a:cubicBezTo>
                    <a:pt x="256" y="243"/>
                    <a:pt x="251" y="248"/>
                    <a:pt x="244" y="248"/>
                  </a:cubicBezTo>
                  <a:cubicBezTo>
                    <a:pt x="12" y="248"/>
                    <a:pt x="12" y="248"/>
                    <a:pt x="12" y="248"/>
                  </a:cubicBezTo>
                  <a:cubicBezTo>
                    <a:pt x="5" y="248"/>
                    <a:pt x="0" y="243"/>
                    <a:pt x="0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0" y="192"/>
                    <a:pt x="32" y="176"/>
                  </a:cubicBezTo>
                  <a:cubicBezTo>
                    <a:pt x="52" y="166"/>
                    <a:pt x="44" y="174"/>
                    <a:pt x="69" y="164"/>
                  </a:cubicBezTo>
                  <a:cubicBezTo>
                    <a:pt x="94" y="154"/>
                    <a:pt x="100" y="150"/>
                    <a:pt x="100" y="150"/>
                  </a:cubicBezTo>
                  <a:cubicBezTo>
                    <a:pt x="100" y="127"/>
                    <a:pt x="100" y="127"/>
                    <a:pt x="100" y="127"/>
                  </a:cubicBezTo>
                  <a:cubicBezTo>
                    <a:pt x="100" y="127"/>
                    <a:pt x="91" y="119"/>
                    <a:pt x="88" y="97"/>
                  </a:cubicBezTo>
                  <a:cubicBezTo>
                    <a:pt x="82" y="99"/>
                    <a:pt x="80" y="90"/>
                    <a:pt x="80" y="85"/>
                  </a:cubicBezTo>
                  <a:cubicBezTo>
                    <a:pt x="80" y="80"/>
                    <a:pt x="77" y="63"/>
                    <a:pt x="84" y="65"/>
                  </a:cubicBezTo>
                  <a:cubicBezTo>
                    <a:pt x="82" y="54"/>
                    <a:pt x="81" y="44"/>
                    <a:pt x="82" y="39"/>
                  </a:cubicBezTo>
                  <a:cubicBezTo>
                    <a:pt x="83" y="21"/>
                    <a:pt x="101" y="1"/>
                    <a:pt x="128" y="0"/>
                  </a:cubicBezTo>
                  <a:cubicBezTo>
                    <a:pt x="160" y="1"/>
                    <a:pt x="173" y="21"/>
                    <a:pt x="175" y="39"/>
                  </a:cubicBezTo>
                  <a:cubicBezTo>
                    <a:pt x="175" y="44"/>
                    <a:pt x="174" y="54"/>
                    <a:pt x="172" y="65"/>
                  </a:cubicBezTo>
                  <a:cubicBezTo>
                    <a:pt x="180" y="63"/>
                    <a:pt x="177" y="80"/>
                    <a:pt x="176" y="85"/>
                  </a:cubicBezTo>
                  <a:cubicBezTo>
                    <a:pt x="176" y="90"/>
                    <a:pt x="174" y="99"/>
                    <a:pt x="168" y="97"/>
                  </a:cubicBezTo>
                  <a:cubicBezTo>
                    <a:pt x="165" y="119"/>
                    <a:pt x="156" y="126"/>
                    <a:pt x="156" y="126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50"/>
                    <a:pt x="162" y="153"/>
                    <a:pt x="187" y="164"/>
                  </a:cubicBezTo>
                  <a:cubicBezTo>
                    <a:pt x="212" y="174"/>
                    <a:pt x="204" y="166"/>
                    <a:pt x="224" y="176"/>
                  </a:cubicBezTo>
                  <a:cubicBezTo>
                    <a:pt x="256" y="192"/>
                    <a:pt x="256" y="236"/>
                    <a:pt x="256" y="23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" name="Google Shape;293;p3"/>
            <p:cNvSpPr txBox="1"/>
            <p:nvPr/>
          </p:nvSpPr>
          <p:spPr>
            <a:xfrm>
              <a:off x="2133734" y="3442597"/>
              <a:ext cx="3277869" cy="174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Kiến trúc và nguyên l</a:t>
              </a:r>
              <a:r>
                <a:rPr lang="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ý </a:t>
              </a:r>
              <a:r>
                <a:rPr lang="en-US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hoạt </a:t>
              </a:r>
              <a:r>
                <a:rPr lang="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ộng</a:t>
              </a:r>
              <a:endParaRPr lang="en-US" altLang="en-US" sz="18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94" name="Google Shape;294;p3"/>
          <p:cNvGrpSpPr/>
          <p:nvPr/>
        </p:nvGrpSpPr>
        <p:grpSpPr>
          <a:xfrm>
            <a:off x="2079505" y="3741368"/>
            <a:ext cx="4981463" cy="1060659"/>
            <a:chOff x="642754" y="4151657"/>
            <a:chExt cx="4981462" cy="1060658"/>
          </a:xfrm>
        </p:grpSpPr>
        <p:grpSp>
          <p:nvGrpSpPr>
            <p:cNvPr id="295" name="Google Shape;295;p3"/>
            <p:cNvGrpSpPr/>
            <p:nvPr/>
          </p:nvGrpSpPr>
          <p:grpSpPr>
            <a:xfrm>
              <a:off x="642754" y="4223274"/>
              <a:ext cx="4981462" cy="989041"/>
              <a:chOff x="508001" y="4223274"/>
              <a:chExt cx="4981462" cy="989041"/>
            </a:xfrm>
          </p:grpSpPr>
          <p:sp>
            <p:nvSpPr>
              <p:cNvPr id="296" name="Google Shape;296;p3"/>
              <p:cNvSpPr/>
              <p:nvPr/>
            </p:nvSpPr>
            <p:spPr>
              <a:xfrm>
                <a:off x="508001" y="4223274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5358014" y="4223274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98" name="Google Shape;298;p3"/>
            <p:cNvGrpSpPr/>
            <p:nvPr/>
          </p:nvGrpSpPr>
          <p:grpSpPr>
            <a:xfrm>
              <a:off x="755424" y="4151657"/>
              <a:ext cx="824049" cy="913894"/>
              <a:chOff x="620671" y="4151657"/>
              <a:chExt cx="824049" cy="913894"/>
            </a:xfrm>
          </p:grpSpPr>
          <p:sp>
            <p:nvSpPr>
              <p:cNvPr id="299" name="Google Shape;299;p3"/>
              <p:cNvSpPr/>
              <p:nvPr/>
            </p:nvSpPr>
            <p:spPr>
              <a:xfrm>
                <a:off x="620671" y="4159912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03</a:t>
                </a:r>
                <a:endParaRPr sz="32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707441" y="4151657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7B7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01" name="Google Shape;301;p3"/>
            <p:cNvSpPr/>
            <p:nvPr/>
          </p:nvSpPr>
          <p:spPr>
            <a:xfrm>
              <a:off x="2165846" y="4300282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635363" y="4526557"/>
              <a:ext cx="479948" cy="404064"/>
            </a:xfrm>
            <a:custGeom>
              <a:avLst/>
              <a:gdLst/>
              <a:ahLst/>
              <a:cxnLst/>
              <a:rect l="l" t="t" r="r" b="b"/>
              <a:pathLst>
                <a:path w="256" h="216" extrusionOk="0">
                  <a:moveTo>
                    <a:pt x="251" y="74"/>
                  </a:moveTo>
                  <a:cubicBezTo>
                    <a:pt x="251" y="74"/>
                    <a:pt x="251" y="74"/>
                    <a:pt x="251" y="74"/>
                  </a:cubicBezTo>
                  <a:cubicBezTo>
                    <a:pt x="251" y="74"/>
                    <a:pt x="251" y="74"/>
                    <a:pt x="251" y="74"/>
                  </a:cubicBezTo>
                  <a:cubicBezTo>
                    <a:pt x="147" y="146"/>
                    <a:pt x="147" y="146"/>
                    <a:pt x="147" y="146"/>
                  </a:cubicBezTo>
                  <a:cubicBezTo>
                    <a:pt x="147" y="146"/>
                    <a:pt x="147" y="146"/>
                    <a:pt x="147" y="146"/>
                  </a:cubicBezTo>
                  <a:cubicBezTo>
                    <a:pt x="145" y="147"/>
                    <a:pt x="143" y="148"/>
                    <a:pt x="140" y="148"/>
                  </a:cubicBezTo>
                  <a:cubicBezTo>
                    <a:pt x="138" y="148"/>
                    <a:pt x="135" y="147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80" y="110"/>
                    <a:pt x="80" y="110"/>
                    <a:pt x="80" y="110"/>
                  </a:cubicBezTo>
                  <a:cubicBezTo>
                    <a:pt x="24" y="143"/>
                    <a:pt x="24" y="143"/>
                    <a:pt x="24" y="14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44" y="192"/>
                    <a:pt x="244" y="192"/>
                    <a:pt x="244" y="192"/>
                  </a:cubicBezTo>
                  <a:cubicBezTo>
                    <a:pt x="251" y="192"/>
                    <a:pt x="256" y="197"/>
                    <a:pt x="256" y="204"/>
                  </a:cubicBezTo>
                  <a:cubicBezTo>
                    <a:pt x="256" y="211"/>
                    <a:pt x="251" y="216"/>
                    <a:pt x="244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5" y="216"/>
                    <a:pt x="0" y="211"/>
                    <a:pt x="0" y="20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115"/>
                    <a:pt x="24" y="115"/>
                    <a:pt x="24" y="115"/>
                  </a:cubicBezTo>
                  <a:cubicBezTo>
                    <a:pt x="74" y="86"/>
                    <a:pt x="74" y="86"/>
                    <a:pt x="74" y="86"/>
                  </a:cubicBezTo>
                  <a:cubicBezTo>
                    <a:pt x="74" y="86"/>
                    <a:pt x="74" y="86"/>
                    <a:pt x="74" y="86"/>
                  </a:cubicBezTo>
                  <a:cubicBezTo>
                    <a:pt x="76" y="85"/>
                    <a:pt x="78" y="84"/>
                    <a:pt x="80" y="84"/>
                  </a:cubicBezTo>
                  <a:cubicBezTo>
                    <a:pt x="82" y="84"/>
                    <a:pt x="85" y="85"/>
                    <a:pt x="87" y="86"/>
                  </a:cubicBezTo>
                  <a:cubicBezTo>
                    <a:pt x="87" y="86"/>
                    <a:pt x="87" y="86"/>
                    <a:pt x="87" y="86"/>
                  </a:cubicBezTo>
                  <a:cubicBezTo>
                    <a:pt x="87" y="86"/>
                    <a:pt x="87" y="86"/>
                    <a:pt x="87" y="86"/>
                  </a:cubicBezTo>
                  <a:cubicBezTo>
                    <a:pt x="87" y="86"/>
                    <a:pt x="87" y="86"/>
                    <a:pt x="87" y="86"/>
                  </a:cubicBezTo>
                  <a:cubicBezTo>
                    <a:pt x="140" y="121"/>
                    <a:pt x="140" y="121"/>
                    <a:pt x="140" y="121"/>
                  </a:cubicBezTo>
                  <a:cubicBezTo>
                    <a:pt x="237" y="54"/>
                    <a:pt x="237" y="54"/>
                    <a:pt x="237" y="54"/>
                  </a:cubicBezTo>
                  <a:cubicBezTo>
                    <a:pt x="237" y="54"/>
                    <a:pt x="237" y="54"/>
                    <a:pt x="237" y="54"/>
                  </a:cubicBezTo>
                  <a:cubicBezTo>
                    <a:pt x="239" y="53"/>
                    <a:pt x="241" y="52"/>
                    <a:pt x="244" y="52"/>
                  </a:cubicBezTo>
                  <a:cubicBezTo>
                    <a:pt x="251" y="52"/>
                    <a:pt x="256" y="57"/>
                    <a:pt x="256" y="64"/>
                  </a:cubicBezTo>
                  <a:cubicBezTo>
                    <a:pt x="256" y="68"/>
                    <a:pt x="254" y="72"/>
                    <a:pt x="251" y="74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3" name="Google Shape;303;p3"/>
            <p:cNvSpPr txBox="1"/>
            <p:nvPr/>
          </p:nvSpPr>
          <p:spPr>
            <a:xfrm>
              <a:off x="2261369" y="4604412"/>
              <a:ext cx="3150234" cy="188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Tích hợp và ứng dụng công nghệ</a:t>
              </a:r>
              <a:endParaRPr lang="en-US" altLang="en-US" sz="18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4" name="Google Shape;304;p3"/>
          <p:cNvGrpSpPr/>
          <p:nvPr/>
        </p:nvGrpSpPr>
        <p:grpSpPr>
          <a:xfrm>
            <a:off x="3173704" y="5017506"/>
            <a:ext cx="4981463" cy="1060659"/>
            <a:chOff x="642754" y="5327442"/>
            <a:chExt cx="4981462" cy="1060658"/>
          </a:xfrm>
        </p:grpSpPr>
        <p:grpSp>
          <p:nvGrpSpPr>
            <p:cNvPr id="305" name="Google Shape;305;p3"/>
            <p:cNvGrpSpPr/>
            <p:nvPr/>
          </p:nvGrpSpPr>
          <p:grpSpPr>
            <a:xfrm>
              <a:off x="642754" y="5399059"/>
              <a:ext cx="4981462" cy="989041"/>
              <a:chOff x="508001" y="5399059"/>
              <a:chExt cx="4981462" cy="989041"/>
            </a:xfrm>
          </p:grpSpPr>
          <p:sp>
            <p:nvSpPr>
              <p:cNvPr id="306" name="Google Shape;306;p3"/>
              <p:cNvSpPr/>
              <p:nvPr/>
            </p:nvSpPr>
            <p:spPr>
              <a:xfrm>
                <a:off x="508001" y="5399059"/>
                <a:ext cx="4850013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459" extrusionOk="0">
                    <a:moveTo>
                      <a:pt x="31" y="0"/>
                    </a:moveTo>
                    <a:cubicBezTo>
                      <a:pt x="14" y="0"/>
                      <a:pt x="0" y="14"/>
                      <a:pt x="0" y="31"/>
                    </a:cubicBezTo>
                    <a:cubicBezTo>
                      <a:pt x="0" y="428"/>
                      <a:pt x="0" y="428"/>
                      <a:pt x="0" y="428"/>
                    </a:cubicBezTo>
                    <a:cubicBezTo>
                      <a:pt x="0" y="445"/>
                      <a:pt x="14" y="459"/>
                      <a:pt x="31" y="459"/>
                    </a:cubicBezTo>
                    <a:cubicBezTo>
                      <a:pt x="2262" y="459"/>
                      <a:pt x="2262" y="459"/>
                      <a:pt x="2262" y="459"/>
                    </a:cubicBezTo>
                    <a:cubicBezTo>
                      <a:pt x="2262" y="0"/>
                      <a:pt x="2262" y="0"/>
                      <a:pt x="2262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5358014" y="5399059"/>
                <a:ext cx="131449" cy="989041"/>
              </a:xfrm>
              <a:custGeom>
                <a:avLst/>
                <a:gdLst/>
                <a:ahLst/>
                <a:cxnLst/>
                <a:rect l="l" t="t" r="r" b="b"/>
                <a:pathLst>
                  <a:path w="61" h="459" extrusionOk="0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30" y="459"/>
                      <a:pt x="30" y="459"/>
                      <a:pt x="30" y="459"/>
                    </a:cubicBezTo>
                    <a:cubicBezTo>
                      <a:pt x="47" y="459"/>
                      <a:pt x="61" y="445"/>
                      <a:pt x="61" y="428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08" name="Google Shape;308;p3"/>
            <p:cNvGrpSpPr/>
            <p:nvPr/>
          </p:nvGrpSpPr>
          <p:grpSpPr>
            <a:xfrm>
              <a:off x="673509" y="5327442"/>
              <a:ext cx="824049" cy="905639"/>
              <a:chOff x="538756" y="5327442"/>
              <a:chExt cx="824049" cy="905639"/>
            </a:xfrm>
          </p:grpSpPr>
          <p:sp>
            <p:nvSpPr>
              <p:cNvPr id="309" name="Google Shape;309;p3"/>
              <p:cNvSpPr/>
              <p:nvPr/>
            </p:nvSpPr>
            <p:spPr>
              <a:xfrm>
                <a:off x="538756" y="5327442"/>
                <a:ext cx="824049" cy="9056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20" extrusionOk="0">
                    <a:moveTo>
                      <a:pt x="351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33" y="14"/>
                      <a:pt x="33" y="33"/>
                    </a:cubicBezTo>
                    <a:cubicBezTo>
                      <a:pt x="33" y="400"/>
                      <a:pt x="33" y="400"/>
                      <a:pt x="33" y="400"/>
                    </a:cubicBezTo>
                    <a:cubicBezTo>
                      <a:pt x="33" y="411"/>
                      <a:pt x="42" y="420"/>
                      <a:pt x="53" y="420"/>
                    </a:cubicBezTo>
                    <a:cubicBezTo>
                      <a:pt x="364" y="420"/>
                      <a:pt x="364" y="420"/>
                      <a:pt x="364" y="420"/>
                    </a:cubicBezTo>
                    <a:cubicBezTo>
                      <a:pt x="375" y="420"/>
                      <a:pt x="384" y="411"/>
                      <a:pt x="384" y="400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384" y="14"/>
                      <a:pt x="369" y="0"/>
                      <a:pt x="3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1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04</a:t>
                </a:r>
                <a:endParaRPr sz="32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707441" y="5327442"/>
                <a:ext cx="142327" cy="71617"/>
              </a:xfrm>
              <a:custGeom>
                <a:avLst/>
                <a:gdLst/>
                <a:ahLst/>
                <a:cxnLst/>
                <a:rect l="l" t="t" r="r" b="b"/>
                <a:pathLst>
                  <a:path w="66" h="33" extrusionOk="0">
                    <a:moveTo>
                      <a:pt x="33" y="0"/>
                    </a:moveTo>
                    <a:cubicBezTo>
                      <a:pt x="14" y="0"/>
                      <a:pt x="0" y="14"/>
                      <a:pt x="0" y="33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14"/>
                      <a:pt x="51" y="0"/>
                      <a:pt x="33" y="0"/>
                    </a:cubicBezTo>
                    <a:close/>
                  </a:path>
                </a:pathLst>
              </a:custGeom>
              <a:solidFill>
                <a:srgbClr val="3636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1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11" name="Google Shape;311;p3"/>
            <p:cNvSpPr/>
            <p:nvPr/>
          </p:nvSpPr>
          <p:spPr>
            <a:xfrm>
              <a:off x="1981061" y="5476067"/>
              <a:ext cx="45719" cy="835024"/>
            </a:xfrm>
            <a:custGeom>
              <a:avLst/>
              <a:gdLst/>
              <a:ahLst/>
              <a:cxnLst/>
              <a:rect l="l" t="t" r="r" b="b"/>
              <a:pathLst>
                <a:path w="22" h="268" extrusionOk="0">
                  <a:moveTo>
                    <a:pt x="22" y="0"/>
                  </a:moveTo>
                  <a:lnTo>
                    <a:pt x="22" y="268"/>
                  </a:lnTo>
                  <a:lnTo>
                    <a:pt x="0" y="268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1549003" y="5654554"/>
              <a:ext cx="358538" cy="478050"/>
            </a:xfrm>
            <a:custGeom>
              <a:avLst/>
              <a:gdLst/>
              <a:ahLst/>
              <a:cxnLst/>
              <a:rect l="l" t="t" r="r" b="b"/>
              <a:pathLst>
                <a:path w="192" h="256" extrusionOk="0">
                  <a:moveTo>
                    <a:pt x="96" y="256"/>
                  </a:moveTo>
                  <a:cubicBezTo>
                    <a:pt x="96" y="256"/>
                    <a:pt x="0" y="149"/>
                    <a:pt x="0" y="96"/>
                  </a:cubicBezTo>
                  <a:cubicBezTo>
                    <a:pt x="0" y="43"/>
                    <a:pt x="43" y="0"/>
                    <a:pt x="96" y="0"/>
                  </a:cubicBezTo>
                  <a:cubicBezTo>
                    <a:pt x="149" y="0"/>
                    <a:pt x="192" y="43"/>
                    <a:pt x="192" y="96"/>
                  </a:cubicBezTo>
                  <a:cubicBezTo>
                    <a:pt x="192" y="149"/>
                    <a:pt x="96" y="256"/>
                    <a:pt x="96" y="256"/>
                  </a:cubicBezTo>
                  <a:moveTo>
                    <a:pt x="96" y="32"/>
                  </a:moveTo>
                  <a:cubicBezTo>
                    <a:pt x="61" y="32"/>
                    <a:pt x="32" y="61"/>
                    <a:pt x="32" y="96"/>
                  </a:cubicBezTo>
                  <a:cubicBezTo>
                    <a:pt x="32" y="131"/>
                    <a:pt x="61" y="160"/>
                    <a:pt x="96" y="160"/>
                  </a:cubicBezTo>
                  <a:cubicBezTo>
                    <a:pt x="131" y="160"/>
                    <a:pt x="160" y="131"/>
                    <a:pt x="160" y="96"/>
                  </a:cubicBezTo>
                  <a:cubicBezTo>
                    <a:pt x="160" y="61"/>
                    <a:pt x="131" y="32"/>
                    <a:pt x="96" y="32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3" name="Google Shape;313;p3"/>
            <p:cNvSpPr txBox="1"/>
            <p:nvPr/>
          </p:nvSpPr>
          <p:spPr>
            <a:xfrm>
              <a:off x="2125612" y="5827570"/>
              <a:ext cx="2614162" cy="188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8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ánh giá và kết luận</a:t>
              </a:r>
              <a:endParaRPr lang="en-US" altLang="en-US" sz="18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14" name="Google Shape;314;p3" descr="Notes by Freepik Stories #svg #png #illustration#work #document #record  #annotations #memo #notes #outl… | Illustration, Flat illustration,  Powerpoint slide designs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25061" y="570088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6"/>
          <p:cNvSpPr/>
          <p:nvPr/>
        </p:nvSpPr>
        <p:spPr>
          <a:xfrm>
            <a:off x="5664200" y="42799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Tổng quan về Agora RTC SDK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vi-VN" altLang="en-US" sz="1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50" name="Google Shape;750;p16"/>
          <p:cNvGrpSpPr/>
          <p:nvPr/>
        </p:nvGrpSpPr>
        <p:grpSpPr>
          <a:xfrm>
            <a:off x="319869" y="1480730"/>
            <a:ext cx="9352280" cy="1330960"/>
            <a:chOff x="5791135" y="-2122312"/>
            <a:chExt cx="19154389" cy="1706856"/>
          </a:xfrm>
        </p:grpSpPr>
        <p:sp>
          <p:nvSpPr>
            <p:cNvPr id="751" name="Google Shape;751;p16"/>
            <p:cNvSpPr txBox="1"/>
            <p:nvPr/>
          </p:nvSpPr>
          <p:spPr>
            <a:xfrm>
              <a:off x="6561056" y="-1564489"/>
              <a:ext cx="18384468" cy="11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Agora RTC SDK (Real-Time Communication Software Development Kit) là bộ công cụ hỗ trợ lập trình viên tích hợp chức n</a:t>
              </a:r>
              <a:r>
                <a:rPr lang="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ng giao tiếp âm thanh và video thời gian thực vào ứng dụng.</a:t>
              </a:r>
              <a:endPara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91135" y="-2122312"/>
              <a:ext cx="5592332" cy="465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Agora RTC SDK là gì?</a:t>
              </a:r>
              <a:endParaRPr lang="en-US" alt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" name="Google Shape;750;p16"/>
          <p:cNvGrpSpPr/>
          <p:nvPr/>
        </p:nvGrpSpPr>
        <p:grpSpPr>
          <a:xfrm>
            <a:off x="407499" y="2891065"/>
            <a:ext cx="9264650" cy="2465705"/>
            <a:chOff x="5644174" y="-2214332"/>
            <a:chExt cx="18974914" cy="3162081"/>
          </a:xfrm>
        </p:grpSpPr>
        <p:sp>
          <p:nvSpPr>
            <p:cNvPr id="12" name="Google Shape;751;p16"/>
            <p:cNvSpPr txBox="1"/>
            <p:nvPr/>
          </p:nvSpPr>
          <p:spPr>
            <a:xfrm>
              <a:off x="6234620" y="-1646737"/>
              <a:ext cx="18384468" cy="25944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Cung cấp API </a:t>
              </a:r>
              <a:r>
                <a:rPr lang="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ể xây dựng chức n</a:t>
              </a:r>
              <a:r>
                <a:rPr lang="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ng gọi thoại và video.</a:t>
              </a:r>
              <a:endPara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Hỗ trợ Android, iOS, Flutter và nhiều nền tảng khác</a:t>
              </a:r>
              <a:endPara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Sử dụng hạ tầng mạng Agora </a:t>
              </a:r>
              <a:r>
                <a:rPr lang="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ể truyền tải dữ liệu.</a:t>
              </a:r>
              <a:endPara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Hỗ trợ giao tiếp hai chiều với </a:t>
              </a:r>
              <a:r>
                <a:rPr lang="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ộ trễ thấp.</a:t>
              </a:r>
              <a:endPara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</a:t>
              </a:r>
              <a:r>
                <a:rPr lang="en-US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Giảm nhu cầu tự phát triển hệ thống truyền thông thời gian thực.</a:t>
              </a:r>
              <a:endPara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" name="Google Shape;752;p16"/>
            <p:cNvSpPr/>
            <p:nvPr/>
          </p:nvSpPr>
          <p:spPr>
            <a:xfrm>
              <a:off x="5644174" y="-2214332"/>
              <a:ext cx="5592332" cy="465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Các </a:t>
              </a:r>
              <a:r>
                <a:rPr lang="" altLang="en-US" sz="18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8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ặc </a:t>
              </a:r>
              <a:r>
                <a:rPr lang="" altLang="en-US" sz="18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800" b="1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iểm chính:</a:t>
              </a:r>
              <a:endParaRPr lang="en-US" alt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36" name="Google Shape;336;p4" descr="New message by Freepik Stories #svg #png #illustration#letter  #communication #mail #email #corre… | Vector illustration people,  Illustration, Character illustration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51547" y="2719224"/>
            <a:ext cx="4208259" cy="4208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24"/>
          <p:cNvGrpSpPr/>
          <p:nvPr/>
        </p:nvGrpSpPr>
        <p:grpSpPr>
          <a:xfrm>
            <a:off x="836295" y="1859280"/>
            <a:ext cx="4265295" cy="1207135"/>
            <a:chOff x="836337" y="1511177"/>
            <a:chExt cx="4654017" cy="1555177"/>
          </a:xfrm>
        </p:grpSpPr>
        <p:sp>
          <p:nvSpPr>
            <p:cNvPr id="1007" name="Google Shape;1007;p24"/>
            <p:cNvSpPr/>
            <p:nvPr/>
          </p:nvSpPr>
          <p:spPr>
            <a:xfrm>
              <a:off x="1940328" y="1808523"/>
              <a:ext cx="3550026" cy="96048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3A3C87">
                    <a:alpha val="54901"/>
                  </a:srgbClr>
                </a:gs>
                <a:gs pos="100000">
                  <a:srgbClr val="3A3C8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836337" y="1511177"/>
              <a:ext cx="1555177" cy="1555177"/>
            </a:xfrm>
            <a:prstGeom prst="ellipse">
              <a:avLst/>
            </a:prstGeom>
            <a:solidFill>
              <a:srgbClr val="3A3C8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09" name="Google Shape;1009;p24"/>
            <p:cNvSpPr txBox="1"/>
            <p:nvPr/>
          </p:nvSpPr>
          <p:spPr>
            <a:xfrm>
              <a:off x="2647789" y="1941431"/>
              <a:ext cx="2398434" cy="1067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ƯU ĐIỂM</a:t>
              </a:r>
              <a:endPara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1010" name="Google Shape;1010;p24"/>
          <p:cNvGrpSpPr/>
          <p:nvPr/>
        </p:nvGrpSpPr>
        <p:grpSpPr>
          <a:xfrm>
            <a:off x="6526530" y="1917065"/>
            <a:ext cx="4234815" cy="1104900"/>
            <a:chOff x="6526508" y="1511177"/>
            <a:chExt cx="4654017" cy="1555177"/>
          </a:xfrm>
        </p:grpSpPr>
        <p:sp>
          <p:nvSpPr>
            <p:cNvPr id="1011" name="Google Shape;1011;p24"/>
            <p:cNvSpPr/>
            <p:nvPr/>
          </p:nvSpPr>
          <p:spPr>
            <a:xfrm>
              <a:off x="7630499" y="1808523"/>
              <a:ext cx="3550026" cy="96048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FDCE06">
                    <a:alpha val="54901"/>
                  </a:srgbClr>
                </a:gs>
                <a:gs pos="100000">
                  <a:srgbClr val="FDCE06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526508" y="1511177"/>
              <a:ext cx="1555177" cy="1555177"/>
            </a:xfrm>
            <a:prstGeom prst="ellipse">
              <a:avLst/>
            </a:prstGeom>
            <a:solidFill>
              <a:srgbClr val="FDCE0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13" name="Google Shape;1013;p24"/>
            <p:cNvSpPr txBox="1"/>
            <p:nvPr/>
          </p:nvSpPr>
          <p:spPr>
            <a:xfrm>
              <a:off x="8269758" y="2018844"/>
              <a:ext cx="2398539" cy="818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  <a:sym typeface="+mn-ea"/>
                </a:rPr>
                <a:t>HẠN CHẾ</a:t>
              </a:r>
              <a:endParaRPr lang="en-US" sz="20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1014" name="Google Shape;1014;p24"/>
          <p:cNvGrpSpPr/>
          <p:nvPr/>
        </p:nvGrpSpPr>
        <p:grpSpPr>
          <a:xfrm>
            <a:off x="1315451" y="3389459"/>
            <a:ext cx="5201285" cy="2531746"/>
            <a:chOff x="1315451" y="3389457"/>
            <a:chExt cx="5201285" cy="2531742"/>
          </a:xfrm>
        </p:grpSpPr>
        <p:sp>
          <p:nvSpPr>
            <p:cNvPr id="1015" name="Google Shape;1015;p24"/>
            <p:cNvSpPr/>
            <p:nvPr/>
          </p:nvSpPr>
          <p:spPr>
            <a:xfrm>
              <a:off x="1315451" y="3389457"/>
              <a:ext cx="4203032" cy="422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Có SDK và API hỗ trợ Flutter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1315451" y="4009851"/>
              <a:ext cx="5201285" cy="754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Hạ tầng truyền thông thời gian thực có sẵn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1315451" y="4571190"/>
              <a:ext cx="4780280" cy="754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Hỗ trợ gọi thoại, video và quản lý kênh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1315451" y="5166820"/>
              <a:ext cx="4779645" cy="754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Giảm thời gian phát triển hệ thống RTC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1019" name="Google Shape;1019;p24"/>
          <p:cNvSpPr txBox="1"/>
          <p:nvPr/>
        </p:nvSpPr>
        <p:spPr>
          <a:xfrm>
            <a:off x="419001" y="1989250"/>
            <a:ext cx="23517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  <a:ea typeface="Arial Black" panose="020B0A04020102020204"/>
                <a:cs typeface="Arial" panose="020B0604020202020204" pitchFamily="34" charset="0"/>
                <a:sym typeface="Arial Black" panose="020B0A04020102020204"/>
              </a:rPr>
              <a:t>01</a:t>
            </a:r>
            <a:endParaRPr lang="en-US" sz="4400" b="1">
              <a:solidFill>
                <a:srgbClr val="FFFFFF"/>
              </a:solidFill>
              <a:latin typeface="Arial" panose="020B0604020202020204" pitchFamily="34" charset="0"/>
              <a:ea typeface="Arial Black" panose="020B0A04020102020204"/>
              <a:cs typeface="Arial" panose="020B0604020202020204" pitchFamily="34" charset="0"/>
              <a:sym typeface="Arial Black" panose="020B0A04020102020204"/>
            </a:endParaRPr>
          </a:p>
        </p:txBody>
      </p:sp>
      <p:sp>
        <p:nvSpPr>
          <p:cNvPr id="1020" name="Google Shape;1020;p24"/>
          <p:cNvSpPr txBox="1"/>
          <p:nvPr/>
        </p:nvSpPr>
        <p:spPr>
          <a:xfrm>
            <a:off x="6024263" y="2090010"/>
            <a:ext cx="23517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 panose="020B0604020202020204" pitchFamily="34" charset="0"/>
                <a:ea typeface="Arial Black" panose="020B0A04020102020204"/>
                <a:cs typeface="Arial" panose="020B0604020202020204" pitchFamily="34" charset="0"/>
                <a:sym typeface="Arial Black" panose="020B0A04020102020204"/>
              </a:rPr>
              <a:t>02</a:t>
            </a:r>
            <a:endParaRPr lang="en-US" sz="4400" b="1">
              <a:solidFill>
                <a:schemeClr val="dk1"/>
              </a:solidFill>
              <a:latin typeface="Arial" panose="020B0604020202020204" pitchFamily="34" charset="0"/>
              <a:ea typeface="Arial Black" panose="020B0A04020102020204"/>
              <a:cs typeface="Arial" panose="020B0604020202020204" pitchFamily="34" charset="0"/>
              <a:sym typeface="Arial Black" panose="020B0A04020102020204"/>
            </a:endParaRPr>
          </a:p>
        </p:txBody>
      </p:sp>
      <p:grpSp>
        <p:nvGrpSpPr>
          <p:cNvPr id="1021" name="Google Shape;1021;p24"/>
          <p:cNvGrpSpPr/>
          <p:nvPr/>
        </p:nvGrpSpPr>
        <p:grpSpPr>
          <a:xfrm>
            <a:off x="6832331" y="3363701"/>
            <a:ext cx="6320790" cy="2531746"/>
            <a:chOff x="1315451" y="3389457"/>
            <a:chExt cx="6320790" cy="2531742"/>
          </a:xfrm>
        </p:grpSpPr>
        <p:sp>
          <p:nvSpPr>
            <p:cNvPr id="1022" name="Google Shape;1022;p24"/>
            <p:cNvSpPr/>
            <p:nvPr/>
          </p:nvSpPr>
          <p:spPr>
            <a:xfrm>
              <a:off x="1315451" y="3389457"/>
              <a:ext cx="4599940" cy="422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rgbClr val="1B313D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Phụ thuộc nhà cung cấp dịch vụ Agora</a:t>
              </a:r>
              <a:endParaRPr lang="en-US" sz="18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023" name="Google Shape;1023;p24"/>
            <p:cNvSpPr/>
            <p:nvPr/>
          </p:nvSpPr>
          <p:spPr>
            <a:xfrm>
              <a:off x="1315451" y="4009851"/>
              <a:ext cx="6320790" cy="754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rgbClr val="1B313D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Chất lượng chịu ảnh hưởng bởi kết nối Internet</a:t>
              </a:r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endParaRPr lang="en-US" sz="1800" dirty="0">
                <a:solidFill>
                  <a:schemeClr val="dk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24" name="Google Shape;1024;p24"/>
            <p:cNvSpPr/>
            <p:nvPr/>
          </p:nvSpPr>
          <p:spPr>
            <a:xfrm>
              <a:off x="1315451" y="4571190"/>
              <a:ext cx="5201285" cy="754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Cần cơ chế cấp và quản lý RTC Token</a:t>
              </a:r>
              <a:endPara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endPara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1025" name="Google Shape;1025;p24"/>
            <p:cNvSpPr/>
            <p:nvPr/>
          </p:nvSpPr>
          <p:spPr>
            <a:xfrm>
              <a:off x="1315451" y="5166820"/>
              <a:ext cx="5304155" cy="754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r>
                <a:rPr lang="en-US" sz="1800" dirty="0">
                  <a:solidFill>
                    <a:srgbClr val="1B313D"/>
                  </a:solidFill>
                  <a:latin typeface="Arial" panose="020B0604020202020204" pitchFamily="34" charset="0"/>
                  <a:ea typeface="Aptos" pitchFamily="34" charset="-122"/>
                  <a:cs typeface="Arial" panose="020B0604020202020204" pitchFamily="34" charset="0"/>
                  <a:sym typeface="+mn-ea"/>
                </a:rPr>
                <a:t>Có thể phát sinh chi phí theo mức sử dụng</a:t>
              </a:r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 panose="020B0604020202020204"/>
                <a:buChar char="•"/>
              </a:pPr>
              <a:endParaRPr lang="en-US" sz="1800" dirty="0">
                <a:solidFill>
                  <a:schemeClr val="dk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5" name="Text 3"/>
          <p:cNvSpPr/>
          <p:nvPr/>
        </p:nvSpPr>
        <p:spPr>
          <a:xfrm>
            <a:off x="119380" y="112496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Đánh giá công nghệ Agora RTC SDK</a:t>
            </a:r>
            <a:endParaRPr lang="en-US" sz="28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8128000" y="476885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Đánh giá và kết luận</a:t>
            </a:r>
            <a:endParaRPr lang="en-US" altLang="en-US" sz="2800" b="1">
              <a:solidFill>
                <a:srgbClr val="FF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  <a:p>
            <a:endParaRPr lang="en-US" altLang="en-US" sz="2800" b="1">
              <a:solidFill>
                <a:srgbClr val="FF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0"/>
          <p:cNvSpPr/>
          <p:nvPr/>
        </p:nvSpPr>
        <p:spPr>
          <a:xfrm>
            <a:off x="4495800" y="1905635"/>
            <a:ext cx="3200400" cy="32004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762000" sx="102000" sy="102000" algn="ctr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Các chức n</a:t>
            </a:r>
            <a:r>
              <a:rPr lang="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ă</a:t>
            </a:r>
            <a:r>
              <a:rPr lang="en-US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ng của Agora RTC SDK</a:t>
            </a:r>
            <a:endParaRPr lang="en-US" altLang="en-US" sz="2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300" name="Google Shape;1300;p30"/>
          <p:cNvGrpSpPr/>
          <p:nvPr/>
        </p:nvGrpSpPr>
        <p:grpSpPr>
          <a:xfrm>
            <a:off x="1089026" y="1640840"/>
            <a:ext cx="3194685" cy="1632695"/>
            <a:chOff x="1045037" y="1640821"/>
            <a:chExt cx="3238679" cy="1632875"/>
          </a:xfrm>
        </p:grpSpPr>
        <p:sp>
          <p:nvSpPr>
            <p:cNvPr id="1301" name="Google Shape;1301;p30"/>
            <p:cNvSpPr/>
            <p:nvPr/>
          </p:nvSpPr>
          <p:spPr>
            <a:xfrm rot="-5400000">
              <a:off x="2769967" y="1195221"/>
              <a:ext cx="1058400" cy="1949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2" name="Google Shape;1302;p30"/>
            <p:cNvSpPr/>
            <p:nvPr/>
          </p:nvSpPr>
          <p:spPr>
            <a:xfrm rot="-5400000">
              <a:off x="2135045" y="1089352"/>
              <a:ext cx="1058662" cy="323867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3" name="Google Shape;1303;p30"/>
            <p:cNvSpPr txBox="1"/>
            <p:nvPr/>
          </p:nvSpPr>
          <p:spPr>
            <a:xfrm>
              <a:off x="2228055" y="1742421"/>
              <a:ext cx="1938655" cy="4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4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Voice Call</a:t>
              </a:r>
              <a:endParaRPr lang="en-US" altLang="en-US"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4" name="Google Shape;1304;p30"/>
            <p:cNvSpPr txBox="1"/>
            <p:nvPr/>
          </p:nvSpPr>
          <p:spPr>
            <a:xfrm>
              <a:off x="1416050" y="2277271"/>
              <a:ext cx="2818395" cy="996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Truyền âm thanh giữa hai hoặc nhiều ng</a:t>
              </a:r>
              <a:r>
                <a:rPr lang="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ư</a:t>
              </a: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ời theo thời gian thực.</a:t>
              </a:r>
              <a:endParaRPr lang="en-US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05" name="Google Shape;1305;p30"/>
          <p:cNvGrpSpPr/>
          <p:nvPr/>
        </p:nvGrpSpPr>
        <p:grpSpPr>
          <a:xfrm>
            <a:off x="1092058" y="3827222"/>
            <a:ext cx="3190642" cy="1606747"/>
            <a:chOff x="1092058" y="3827221"/>
            <a:chExt cx="3190642" cy="1606747"/>
          </a:xfrm>
        </p:grpSpPr>
        <p:sp>
          <p:nvSpPr>
            <p:cNvPr id="1306" name="Google Shape;1306;p30"/>
            <p:cNvSpPr/>
            <p:nvPr/>
          </p:nvSpPr>
          <p:spPr>
            <a:xfrm rot="-5400000">
              <a:off x="2778700" y="3381621"/>
              <a:ext cx="1058400" cy="1949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DCE0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7" name="Google Shape;1307;p30"/>
            <p:cNvSpPr/>
            <p:nvPr/>
          </p:nvSpPr>
          <p:spPr>
            <a:xfrm rot="-5400000">
              <a:off x="2155683" y="3302711"/>
              <a:ext cx="1058545" cy="318579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8" name="Google Shape;1308;p30"/>
            <p:cNvSpPr txBox="1"/>
            <p:nvPr/>
          </p:nvSpPr>
          <p:spPr>
            <a:xfrm>
              <a:off x="2208705" y="3909136"/>
              <a:ext cx="1976755" cy="459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4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Group Call</a:t>
              </a:r>
              <a:endParaRPr lang="en-US" altLang="en-US"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9" name="Google Shape;1309;p30"/>
            <p:cNvSpPr txBox="1"/>
            <p:nvPr/>
          </p:nvSpPr>
          <p:spPr>
            <a:xfrm>
              <a:off x="1426210" y="4437653"/>
              <a:ext cx="2818395" cy="996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Cho phép nhiều ng</a:t>
              </a:r>
              <a:r>
                <a:rPr lang="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ư</a:t>
              </a: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ời tham gia cùng một kênh giao tiếp.</a:t>
              </a:r>
              <a:endParaRPr lang="en-US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10" name="Google Shape;1310;p30"/>
          <p:cNvGrpSpPr/>
          <p:nvPr/>
        </p:nvGrpSpPr>
        <p:grpSpPr>
          <a:xfrm>
            <a:off x="7921800" y="1640822"/>
            <a:ext cx="3663400" cy="1635318"/>
            <a:chOff x="7921800" y="1640821"/>
            <a:chExt cx="3663400" cy="1635318"/>
          </a:xfrm>
        </p:grpSpPr>
        <p:sp>
          <p:nvSpPr>
            <p:cNvPr id="1311" name="Google Shape;1311;p30"/>
            <p:cNvSpPr/>
            <p:nvPr/>
          </p:nvSpPr>
          <p:spPr>
            <a:xfrm rot="5400000" flipH="1">
              <a:off x="8582835" y="979786"/>
              <a:ext cx="1058545" cy="2380615"/>
            </a:xfrm>
            <a:prstGeom prst="round2SameRect">
              <a:avLst>
                <a:gd name="adj1" fmla="val 46858"/>
                <a:gd name="adj2" fmla="val 0"/>
              </a:avLst>
            </a:prstGeom>
            <a:solidFill>
              <a:srgbClr val="FDCE0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2" name="Google Shape;1312;p30"/>
            <p:cNvSpPr/>
            <p:nvPr/>
          </p:nvSpPr>
          <p:spPr>
            <a:xfrm rot="5400000" flipH="1">
              <a:off x="9226800" y="879854"/>
              <a:ext cx="1058400" cy="3658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3" name="Google Shape;1313;p30"/>
            <p:cNvSpPr txBox="1"/>
            <p:nvPr/>
          </p:nvSpPr>
          <p:spPr>
            <a:xfrm>
              <a:off x="8025305" y="1742421"/>
              <a:ext cx="2127250" cy="459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4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Video Call</a:t>
              </a:r>
              <a:endParaRPr lang="en-US" altLang="en-US"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4" name="Google Shape;1314;p30"/>
            <p:cNvSpPr txBox="1"/>
            <p:nvPr/>
          </p:nvSpPr>
          <p:spPr>
            <a:xfrm>
              <a:off x="8006749" y="2279824"/>
              <a:ext cx="2818395" cy="996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Truyền hình ảnh và âm thanh </a:t>
              </a:r>
              <a:r>
                <a:rPr lang="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ồng thời giữa các thiết bị.</a:t>
              </a:r>
              <a:endParaRPr lang="en-US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15" name="Google Shape;1315;p30"/>
          <p:cNvGrpSpPr/>
          <p:nvPr/>
        </p:nvGrpSpPr>
        <p:grpSpPr>
          <a:xfrm>
            <a:off x="7922000" y="3827222"/>
            <a:ext cx="3663400" cy="1606583"/>
            <a:chOff x="7922000" y="3827221"/>
            <a:chExt cx="3663400" cy="1606583"/>
          </a:xfrm>
        </p:grpSpPr>
        <p:sp>
          <p:nvSpPr>
            <p:cNvPr id="1316" name="Google Shape;1316;p30"/>
            <p:cNvSpPr/>
            <p:nvPr/>
          </p:nvSpPr>
          <p:spPr>
            <a:xfrm rot="5400000" flipH="1">
              <a:off x="8579225" y="3169996"/>
              <a:ext cx="1058545" cy="237299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7" name="Google Shape;1317;p30"/>
            <p:cNvSpPr/>
            <p:nvPr/>
          </p:nvSpPr>
          <p:spPr>
            <a:xfrm rot="5400000" flipH="1">
              <a:off x="9227000" y="3066254"/>
              <a:ext cx="1058400" cy="3658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711200" dist="254000" dir="2700000" sx="102000" sy="102000" algn="tl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8" name="Google Shape;1318;p30"/>
            <p:cNvSpPr txBox="1"/>
            <p:nvPr/>
          </p:nvSpPr>
          <p:spPr>
            <a:xfrm>
              <a:off x="7947400" y="3878021"/>
              <a:ext cx="2435860" cy="459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400" b="1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Media Control</a:t>
              </a:r>
              <a:endParaRPr lang="en-US" altLang="en-US"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9" name="Google Shape;1319;p30"/>
            <p:cNvSpPr txBox="1"/>
            <p:nvPr/>
          </p:nvSpPr>
          <p:spPr>
            <a:xfrm>
              <a:off x="8006749" y="4437489"/>
              <a:ext cx="2818395" cy="996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Bật/tắt camera, micro, chuyển camera và </a:t>
              </a:r>
              <a:r>
                <a:rPr lang="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iều khiển luồng truyền.</a:t>
              </a:r>
              <a:endParaRPr lang="en-US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49" name="Google Shape;749;p16"/>
          <p:cNvSpPr/>
          <p:nvPr/>
        </p:nvSpPr>
        <p:spPr>
          <a:xfrm>
            <a:off x="5664200" y="42799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Tổng quan về Agora RTC SDK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vi-VN" altLang="en-US" sz="1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12875"/>
            <a:ext cx="12068175" cy="24828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84065" y="37172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Sơ đồ </a:t>
            </a:r>
            <a:r>
              <a:rPr lang="en-US" altLang="en-US"/>
              <a:t>tổng thể của Agora RTC SDK</a:t>
            </a:r>
            <a:endParaRPr lang="en-US" altLang="en-US"/>
          </a:p>
        </p:txBody>
      </p:sp>
      <p:sp>
        <p:nvSpPr>
          <p:cNvPr id="749" name="Google Shape;749;p16"/>
          <p:cNvSpPr/>
          <p:nvPr/>
        </p:nvSpPr>
        <p:spPr>
          <a:xfrm>
            <a:off x="5735955" y="25400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Kiến trúc và nguyên lý hoạt động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79170" y="4437380"/>
            <a:ext cx="10233660" cy="168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vi-VN" altLang="en-US" sz="1800"/>
              <a:t>- </a:t>
            </a:r>
            <a:r>
              <a:rPr lang="en-US" altLang="en-US" sz="1800"/>
              <a:t>Sơ </a:t>
            </a:r>
            <a:r>
              <a:rPr lang="" altLang="en-US" sz="1800"/>
              <a:t>đ</a:t>
            </a:r>
            <a:r>
              <a:rPr lang="en-US" altLang="en-US" sz="1800"/>
              <a:t>ồ mô tả kiến trúc giao tiếp hai chiều giữa hai thiết bị thông qua Agora RTC SDK. </a:t>
            </a:r>
            <a:endParaRPr lang="en-US" altLang="en-US" sz="1800"/>
          </a:p>
          <a:p>
            <a:pPr algn="just"/>
            <a:r>
              <a:rPr lang="vi-VN" altLang="en-US" sz="1800"/>
              <a:t>- </a:t>
            </a:r>
            <a:r>
              <a:rPr lang="en-US" altLang="en-US" sz="1800"/>
              <a:t>Mỗi thiết bị sử dụng Agora RTC Engine </a:t>
            </a:r>
            <a:r>
              <a:rPr lang="" altLang="en-US" sz="1800"/>
              <a:t>đ</a:t>
            </a:r>
            <a:r>
              <a:rPr lang="en-US" altLang="en-US" sz="1800"/>
              <a:t>ể xử l</a:t>
            </a:r>
            <a:r>
              <a:rPr lang="" altLang="en-US" sz="1800"/>
              <a:t>ý </a:t>
            </a:r>
            <a:r>
              <a:rPr lang="en-US" altLang="en-US" sz="1800"/>
              <a:t>âm thanh và video, sau </a:t>
            </a:r>
            <a:r>
              <a:rPr lang="" altLang="en-US" sz="1800"/>
              <a:t>đ</a:t>
            </a:r>
            <a:r>
              <a:rPr lang="en-US" altLang="en-US" sz="1800"/>
              <a:t>ó truyền và nhận dữ liệu thông qua hạ tầng Agora SD-RTN, giúp ng</a:t>
            </a:r>
            <a:r>
              <a:rPr lang="" altLang="en-US" sz="1800"/>
              <a:t>ư</a:t>
            </a:r>
            <a:r>
              <a:rPr lang="en-US" altLang="en-US" sz="1800"/>
              <a:t>ời dùng giao tiếp theo thời gian thực.</a:t>
            </a:r>
            <a:endParaRPr lang="en-US" altLang="en-US" sz="1800"/>
          </a:p>
        </p:txBody>
      </p:sp>
      <p:sp>
        <p:nvSpPr>
          <p:cNvPr id="7" name="Text Box 6"/>
          <p:cNvSpPr txBox="1"/>
          <p:nvPr/>
        </p:nvSpPr>
        <p:spPr>
          <a:xfrm>
            <a:off x="119380" y="11969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Kiến Trúc:</a:t>
            </a:r>
            <a:endParaRPr lang="vi-V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"/>
          <p:cNvSpPr/>
          <p:nvPr/>
        </p:nvSpPr>
        <p:spPr>
          <a:xfrm>
            <a:off x="1127654" y="2054622"/>
            <a:ext cx="2892345" cy="1358151"/>
          </a:xfrm>
          <a:custGeom>
            <a:avLst/>
            <a:gdLst/>
            <a:ahLst/>
            <a:cxnLst/>
            <a:rect l="l" t="t" r="r" b="b"/>
            <a:pathLst>
              <a:path w="56308" h="29995" extrusionOk="0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1097126" y="1708731"/>
            <a:ext cx="604223" cy="536164"/>
          </a:xfrm>
          <a:custGeom>
            <a:avLst/>
            <a:gdLst/>
            <a:ahLst/>
            <a:cxnLst/>
            <a:rect l="l" t="t" r="r" b="b"/>
            <a:pathLst>
              <a:path w="19715" h="20900" extrusionOk="0">
                <a:moveTo>
                  <a:pt x="9613" y="1"/>
                </a:moveTo>
                <a:cubicBezTo>
                  <a:pt x="8599" y="1"/>
                  <a:pt x="7632" y="282"/>
                  <a:pt x="6739" y="803"/>
                </a:cubicBezTo>
                <a:cubicBezTo>
                  <a:pt x="4604" y="2037"/>
                  <a:pt x="3136" y="3839"/>
                  <a:pt x="2269" y="6140"/>
                </a:cubicBezTo>
                <a:cubicBezTo>
                  <a:pt x="1435" y="8342"/>
                  <a:pt x="601" y="10543"/>
                  <a:pt x="301" y="12912"/>
                </a:cubicBezTo>
                <a:cubicBezTo>
                  <a:pt x="168" y="13846"/>
                  <a:pt x="67" y="14746"/>
                  <a:pt x="201" y="15647"/>
                </a:cubicBezTo>
                <a:cubicBezTo>
                  <a:pt x="334" y="16381"/>
                  <a:pt x="334" y="17048"/>
                  <a:pt x="134" y="17749"/>
                </a:cubicBezTo>
                <a:cubicBezTo>
                  <a:pt x="1" y="18282"/>
                  <a:pt x="134" y="18582"/>
                  <a:pt x="568" y="18849"/>
                </a:cubicBezTo>
                <a:cubicBezTo>
                  <a:pt x="1135" y="19216"/>
                  <a:pt x="1735" y="19583"/>
                  <a:pt x="2236" y="20017"/>
                </a:cubicBezTo>
                <a:cubicBezTo>
                  <a:pt x="2912" y="20626"/>
                  <a:pt x="3634" y="20899"/>
                  <a:pt x="4423" y="20899"/>
                </a:cubicBezTo>
                <a:cubicBezTo>
                  <a:pt x="4801" y="20899"/>
                  <a:pt x="5194" y="20836"/>
                  <a:pt x="5605" y="20717"/>
                </a:cubicBezTo>
                <a:cubicBezTo>
                  <a:pt x="7339" y="20150"/>
                  <a:pt x="9141" y="19850"/>
                  <a:pt x="10942" y="19483"/>
                </a:cubicBezTo>
                <a:cubicBezTo>
                  <a:pt x="12543" y="19150"/>
                  <a:pt x="14244" y="19216"/>
                  <a:pt x="15845" y="18816"/>
                </a:cubicBezTo>
                <a:cubicBezTo>
                  <a:pt x="16246" y="18516"/>
                  <a:pt x="16646" y="18249"/>
                  <a:pt x="17013" y="17949"/>
                </a:cubicBezTo>
                <a:cubicBezTo>
                  <a:pt x="17280" y="17749"/>
                  <a:pt x="17580" y="17482"/>
                  <a:pt x="17580" y="17115"/>
                </a:cubicBezTo>
                <a:cubicBezTo>
                  <a:pt x="17613" y="16247"/>
                  <a:pt x="18214" y="15747"/>
                  <a:pt x="18781" y="15247"/>
                </a:cubicBezTo>
                <a:cubicBezTo>
                  <a:pt x="19081" y="14313"/>
                  <a:pt x="19348" y="13379"/>
                  <a:pt x="19515" y="12445"/>
                </a:cubicBezTo>
                <a:cubicBezTo>
                  <a:pt x="19581" y="12011"/>
                  <a:pt x="19715" y="11577"/>
                  <a:pt x="19648" y="11144"/>
                </a:cubicBezTo>
                <a:cubicBezTo>
                  <a:pt x="19515" y="9476"/>
                  <a:pt x="19114" y="7942"/>
                  <a:pt x="17914" y="6707"/>
                </a:cubicBezTo>
                <a:cubicBezTo>
                  <a:pt x="17346" y="6340"/>
                  <a:pt x="16946" y="5807"/>
                  <a:pt x="16479" y="5340"/>
                </a:cubicBezTo>
                <a:cubicBezTo>
                  <a:pt x="16346" y="5173"/>
                  <a:pt x="16246" y="4939"/>
                  <a:pt x="16212" y="4706"/>
                </a:cubicBezTo>
                <a:cubicBezTo>
                  <a:pt x="16112" y="3872"/>
                  <a:pt x="15845" y="3138"/>
                  <a:pt x="15312" y="2504"/>
                </a:cubicBezTo>
                <a:cubicBezTo>
                  <a:pt x="15245" y="2404"/>
                  <a:pt x="15278" y="2271"/>
                  <a:pt x="15245" y="2137"/>
                </a:cubicBezTo>
                <a:cubicBezTo>
                  <a:pt x="15178" y="2104"/>
                  <a:pt x="15078" y="2071"/>
                  <a:pt x="15011" y="2037"/>
                </a:cubicBezTo>
                <a:lnTo>
                  <a:pt x="14978" y="2037"/>
                </a:lnTo>
                <a:cubicBezTo>
                  <a:pt x="13977" y="1003"/>
                  <a:pt x="12810" y="303"/>
                  <a:pt x="11376" y="169"/>
                </a:cubicBezTo>
                <a:cubicBezTo>
                  <a:pt x="11142" y="136"/>
                  <a:pt x="10909" y="136"/>
                  <a:pt x="10675" y="103"/>
                </a:cubicBezTo>
                <a:cubicBezTo>
                  <a:pt x="10316" y="34"/>
                  <a:pt x="9962" y="1"/>
                  <a:pt x="9613" y="1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5" b="1">
                <a:solidFill>
                  <a:srgbClr val="000000"/>
                </a:solidFill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rPr>
              <a:t>1</a:t>
            </a:r>
            <a:endParaRPr sz="2135" b="1">
              <a:solidFill>
                <a:srgbClr val="000000"/>
              </a:solidFill>
              <a:latin typeface="Fira Sans Extra Condensed" panose="020B0503050000020004"/>
              <a:ea typeface="Fira Sans Extra Condensed" panose="020B0503050000020004"/>
              <a:cs typeface="Fira Sans Extra Condensed" panose="020B0503050000020004"/>
              <a:sym typeface="Fira Sans Extra Condensed" panose="020B0503050000020004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1367464" y="2108313"/>
            <a:ext cx="899" cy="27"/>
          </a:xfrm>
          <a:custGeom>
            <a:avLst/>
            <a:gdLst/>
            <a:ahLst/>
            <a:cxnLst/>
            <a:rect l="l" t="t" r="r" b="b"/>
            <a:pathLst>
              <a:path w="34" h="1" extrusionOk="0">
                <a:moveTo>
                  <a:pt x="33" y="0"/>
                </a:moveTo>
                <a:cubicBezTo>
                  <a:pt x="33" y="0"/>
                  <a:pt x="0" y="0"/>
                  <a:pt x="0" y="0"/>
                </a:cubicBezTo>
                <a:cubicBezTo>
                  <a:pt x="33" y="0"/>
                  <a:pt x="33" y="0"/>
                  <a:pt x="33" y="0"/>
                </a:cubicBezTo>
                <a:close/>
              </a:path>
            </a:pathLst>
          </a:custGeom>
          <a:solidFill>
            <a:srgbClr val="E1A95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1" name="Google Shape;451;p8"/>
          <p:cNvSpPr/>
          <p:nvPr/>
        </p:nvSpPr>
        <p:spPr>
          <a:xfrm flipH="1">
            <a:off x="8306177" y="4071770"/>
            <a:ext cx="2892345" cy="1358151"/>
          </a:xfrm>
          <a:custGeom>
            <a:avLst/>
            <a:gdLst/>
            <a:ahLst/>
            <a:cxnLst/>
            <a:rect l="l" t="t" r="r" b="b"/>
            <a:pathLst>
              <a:path w="56308" h="29995" extrusionOk="0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2" name="Google Shape;452;p8"/>
          <p:cNvSpPr/>
          <p:nvPr/>
        </p:nvSpPr>
        <p:spPr>
          <a:xfrm flipH="1">
            <a:off x="10624829" y="3725881"/>
            <a:ext cx="604223" cy="536164"/>
          </a:xfrm>
          <a:custGeom>
            <a:avLst/>
            <a:gdLst/>
            <a:ahLst/>
            <a:cxnLst/>
            <a:rect l="l" t="t" r="r" b="b"/>
            <a:pathLst>
              <a:path w="19715" h="20900" extrusionOk="0">
                <a:moveTo>
                  <a:pt x="9613" y="1"/>
                </a:moveTo>
                <a:cubicBezTo>
                  <a:pt x="8599" y="1"/>
                  <a:pt x="7632" y="282"/>
                  <a:pt x="6739" y="803"/>
                </a:cubicBezTo>
                <a:cubicBezTo>
                  <a:pt x="4604" y="2037"/>
                  <a:pt x="3136" y="3839"/>
                  <a:pt x="2269" y="6140"/>
                </a:cubicBezTo>
                <a:cubicBezTo>
                  <a:pt x="1435" y="8342"/>
                  <a:pt x="601" y="10543"/>
                  <a:pt x="301" y="12912"/>
                </a:cubicBezTo>
                <a:cubicBezTo>
                  <a:pt x="168" y="13846"/>
                  <a:pt x="67" y="14746"/>
                  <a:pt x="201" y="15647"/>
                </a:cubicBezTo>
                <a:cubicBezTo>
                  <a:pt x="334" y="16381"/>
                  <a:pt x="334" y="17048"/>
                  <a:pt x="134" y="17749"/>
                </a:cubicBezTo>
                <a:cubicBezTo>
                  <a:pt x="1" y="18282"/>
                  <a:pt x="134" y="18582"/>
                  <a:pt x="568" y="18849"/>
                </a:cubicBezTo>
                <a:cubicBezTo>
                  <a:pt x="1135" y="19216"/>
                  <a:pt x="1735" y="19583"/>
                  <a:pt x="2236" y="20017"/>
                </a:cubicBezTo>
                <a:cubicBezTo>
                  <a:pt x="2912" y="20626"/>
                  <a:pt x="3634" y="20899"/>
                  <a:pt x="4423" y="20899"/>
                </a:cubicBezTo>
                <a:cubicBezTo>
                  <a:pt x="4801" y="20899"/>
                  <a:pt x="5194" y="20836"/>
                  <a:pt x="5605" y="20717"/>
                </a:cubicBezTo>
                <a:cubicBezTo>
                  <a:pt x="7339" y="20150"/>
                  <a:pt x="9141" y="19850"/>
                  <a:pt x="10942" y="19483"/>
                </a:cubicBezTo>
                <a:cubicBezTo>
                  <a:pt x="12543" y="19150"/>
                  <a:pt x="14244" y="19216"/>
                  <a:pt x="15845" y="18816"/>
                </a:cubicBezTo>
                <a:cubicBezTo>
                  <a:pt x="16246" y="18516"/>
                  <a:pt x="16646" y="18249"/>
                  <a:pt x="17013" y="17949"/>
                </a:cubicBezTo>
                <a:cubicBezTo>
                  <a:pt x="17280" y="17749"/>
                  <a:pt x="17580" y="17482"/>
                  <a:pt x="17580" y="17115"/>
                </a:cubicBezTo>
                <a:cubicBezTo>
                  <a:pt x="17613" y="16247"/>
                  <a:pt x="18214" y="15747"/>
                  <a:pt x="18781" y="15247"/>
                </a:cubicBezTo>
                <a:cubicBezTo>
                  <a:pt x="19081" y="14313"/>
                  <a:pt x="19348" y="13379"/>
                  <a:pt x="19515" y="12445"/>
                </a:cubicBezTo>
                <a:cubicBezTo>
                  <a:pt x="19581" y="12011"/>
                  <a:pt x="19715" y="11577"/>
                  <a:pt x="19648" y="11144"/>
                </a:cubicBezTo>
                <a:cubicBezTo>
                  <a:pt x="19515" y="9476"/>
                  <a:pt x="19114" y="7942"/>
                  <a:pt x="17914" y="6707"/>
                </a:cubicBezTo>
                <a:cubicBezTo>
                  <a:pt x="17346" y="6340"/>
                  <a:pt x="16946" y="5807"/>
                  <a:pt x="16479" y="5340"/>
                </a:cubicBezTo>
                <a:cubicBezTo>
                  <a:pt x="16346" y="5173"/>
                  <a:pt x="16246" y="4939"/>
                  <a:pt x="16212" y="4706"/>
                </a:cubicBezTo>
                <a:cubicBezTo>
                  <a:pt x="16112" y="3872"/>
                  <a:pt x="15845" y="3138"/>
                  <a:pt x="15312" y="2504"/>
                </a:cubicBezTo>
                <a:cubicBezTo>
                  <a:pt x="15245" y="2404"/>
                  <a:pt x="15278" y="2271"/>
                  <a:pt x="15245" y="2137"/>
                </a:cubicBezTo>
                <a:cubicBezTo>
                  <a:pt x="15178" y="2104"/>
                  <a:pt x="15078" y="2071"/>
                  <a:pt x="15011" y="2037"/>
                </a:cubicBezTo>
                <a:lnTo>
                  <a:pt x="14978" y="2037"/>
                </a:lnTo>
                <a:cubicBezTo>
                  <a:pt x="13977" y="1003"/>
                  <a:pt x="12810" y="303"/>
                  <a:pt x="11376" y="169"/>
                </a:cubicBezTo>
                <a:cubicBezTo>
                  <a:pt x="11142" y="136"/>
                  <a:pt x="10909" y="136"/>
                  <a:pt x="10675" y="103"/>
                </a:cubicBezTo>
                <a:cubicBezTo>
                  <a:pt x="10316" y="34"/>
                  <a:pt x="9962" y="1"/>
                  <a:pt x="9613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5" b="1">
                <a:solidFill>
                  <a:srgbClr val="000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4</a:t>
            </a:r>
            <a:endParaRPr sz="1865">
              <a:solidFill>
                <a:srgbClr val="000000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453" name="Google Shape;453;p8"/>
          <p:cNvSpPr/>
          <p:nvPr/>
        </p:nvSpPr>
        <p:spPr>
          <a:xfrm flipH="1">
            <a:off x="8013809" y="1771314"/>
            <a:ext cx="2892345" cy="1358151"/>
          </a:xfrm>
          <a:custGeom>
            <a:avLst/>
            <a:gdLst/>
            <a:ahLst/>
            <a:cxnLst/>
            <a:rect l="l" t="t" r="r" b="b"/>
            <a:pathLst>
              <a:path w="56308" h="29995" extrusionOk="0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4" name="Google Shape;454;p8"/>
          <p:cNvSpPr/>
          <p:nvPr/>
        </p:nvSpPr>
        <p:spPr>
          <a:xfrm flipH="1">
            <a:off x="10332461" y="1425423"/>
            <a:ext cx="604223" cy="536164"/>
          </a:xfrm>
          <a:custGeom>
            <a:avLst/>
            <a:gdLst/>
            <a:ahLst/>
            <a:cxnLst/>
            <a:rect l="l" t="t" r="r" b="b"/>
            <a:pathLst>
              <a:path w="19715" h="20900" extrusionOk="0">
                <a:moveTo>
                  <a:pt x="9613" y="1"/>
                </a:moveTo>
                <a:cubicBezTo>
                  <a:pt x="8599" y="1"/>
                  <a:pt x="7632" y="282"/>
                  <a:pt x="6739" y="803"/>
                </a:cubicBezTo>
                <a:cubicBezTo>
                  <a:pt x="4604" y="2037"/>
                  <a:pt x="3136" y="3839"/>
                  <a:pt x="2269" y="6140"/>
                </a:cubicBezTo>
                <a:cubicBezTo>
                  <a:pt x="1435" y="8342"/>
                  <a:pt x="601" y="10543"/>
                  <a:pt x="301" y="12912"/>
                </a:cubicBezTo>
                <a:cubicBezTo>
                  <a:pt x="168" y="13846"/>
                  <a:pt x="67" y="14746"/>
                  <a:pt x="201" y="15647"/>
                </a:cubicBezTo>
                <a:cubicBezTo>
                  <a:pt x="334" y="16381"/>
                  <a:pt x="334" y="17048"/>
                  <a:pt x="134" y="17749"/>
                </a:cubicBezTo>
                <a:cubicBezTo>
                  <a:pt x="1" y="18282"/>
                  <a:pt x="134" y="18582"/>
                  <a:pt x="568" y="18849"/>
                </a:cubicBezTo>
                <a:cubicBezTo>
                  <a:pt x="1135" y="19216"/>
                  <a:pt x="1735" y="19583"/>
                  <a:pt x="2236" y="20017"/>
                </a:cubicBezTo>
                <a:cubicBezTo>
                  <a:pt x="2912" y="20626"/>
                  <a:pt x="3634" y="20899"/>
                  <a:pt x="4423" y="20899"/>
                </a:cubicBezTo>
                <a:cubicBezTo>
                  <a:pt x="4801" y="20899"/>
                  <a:pt x="5194" y="20836"/>
                  <a:pt x="5605" y="20717"/>
                </a:cubicBezTo>
                <a:cubicBezTo>
                  <a:pt x="7339" y="20150"/>
                  <a:pt x="9141" y="19850"/>
                  <a:pt x="10942" y="19483"/>
                </a:cubicBezTo>
                <a:cubicBezTo>
                  <a:pt x="12543" y="19150"/>
                  <a:pt x="14244" y="19216"/>
                  <a:pt x="15845" y="18816"/>
                </a:cubicBezTo>
                <a:cubicBezTo>
                  <a:pt x="16246" y="18516"/>
                  <a:pt x="16646" y="18249"/>
                  <a:pt x="17013" y="17949"/>
                </a:cubicBezTo>
                <a:cubicBezTo>
                  <a:pt x="17280" y="17749"/>
                  <a:pt x="17580" y="17482"/>
                  <a:pt x="17580" y="17115"/>
                </a:cubicBezTo>
                <a:cubicBezTo>
                  <a:pt x="17613" y="16247"/>
                  <a:pt x="18214" y="15747"/>
                  <a:pt x="18781" y="15247"/>
                </a:cubicBezTo>
                <a:cubicBezTo>
                  <a:pt x="19081" y="14313"/>
                  <a:pt x="19348" y="13379"/>
                  <a:pt x="19515" y="12445"/>
                </a:cubicBezTo>
                <a:cubicBezTo>
                  <a:pt x="19581" y="12011"/>
                  <a:pt x="19715" y="11577"/>
                  <a:pt x="19648" y="11144"/>
                </a:cubicBezTo>
                <a:cubicBezTo>
                  <a:pt x="19515" y="9476"/>
                  <a:pt x="19114" y="7942"/>
                  <a:pt x="17914" y="6707"/>
                </a:cubicBezTo>
                <a:cubicBezTo>
                  <a:pt x="17346" y="6340"/>
                  <a:pt x="16946" y="5807"/>
                  <a:pt x="16479" y="5340"/>
                </a:cubicBezTo>
                <a:cubicBezTo>
                  <a:pt x="16346" y="5173"/>
                  <a:pt x="16246" y="4939"/>
                  <a:pt x="16212" y="4706"/>
                </a:cubicBezTo>
                <a:cubicBezTo>
                  <a:pt x="16112" y="3872"/>
                  <a:pt x="15845" y="3138"/>
                  <a:pt x="15312" y="2504"/>
                </a:cubicBezTo>
                <a:cubicBezTo>
                  <a:pt x="15245" y="2404"/>
                  <a:pt x="15278" y="2271"/>
                  <a:pt x="15245" y="2137"/>
                </a:cubicBezTo>
                <a:cubicBezTo>
                  <a:pt x="15178" y="2104"/>
                  <a:pt x="15078" y="2071"/>
                  <a:pt x="15011" y="2037"/>
                </a:cubicBezTo>
                <a:lnTo>
                  <a:pt x="14978" y="2037"/>
                </a:lnTo>
                <a:cubicBezTo>
                  <a:pt x="13977" y="1003"/>
                  <a:pt x="12810" y="303"/>
                  <a:pt x="11376" y="169"/>
                </a:cubicBezTo>
                <a:cubicBezTo>
                  <a:pt x="11142" y="136"/>
                  <a:pt x="10909" y="136"/>
                  <a:pt x="10675" y="103"/>
                </a:cubicBezTo>
                <a:cubicBezTo>
                  <a:pt x="10316" y="34"/>
                  <a:pt x="9962" y="1"/>
                  <a:pt x="9613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5" b="1">
                <a:solidFill>
                  <a:srgbClr val="000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</a:t>
            </a:r>
            <a:endParaRPr sz="1865">
              <a:solidFill>
                <a:srgbClr val="000000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1215988" y="4560571"/>
            <a:ext cx="2892345" cy="1358151"/>
          </a:xfrm>
          <a:custGeom>
            <a:avLst/>
            <a:gdLst/>
            <a:ahLst/>
            <a:cxnLst/>
            <a:rect l="l" t="t" r="r" b="b"/>
            <a:pathLst>
              <a:path w="56308" h="29995" extrusionOk="0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1185458" y="4214682"/>
            <a:ext cx="604223" cy="536164"/>
          </a:xfrm>
          <a:custGeom>
            <a:avLst/>
            <a:gdLst/>
            <a:ahLst/>
            <a:cxnLst/>
            <a:rect l="l" t="t" r="r" b="b"/>
            <a:pathLst>
              <a:path w="19715" h="20900" extrusionOk="0">
                <a:moveTo>
                  <a:pt x="9613" y="1"/>
                </a:moveTo>
                <a:cubicBezTo>
                  <a:pt x="8599" y="1"/>
                  <a:pt x="7632" y="282"/>
                  <a:pt x="6739" y="803"/>
                </a:cubicBezTo>
                <a:cubicBezTo>
                  <a:pt x="4604" y="2037"/>
                  <a:pt x="3136" y="3839"/>
                  <a:pt x="2269" y="6140"/>
                </a:cubicBezTo>
                <a:cubicBezTo>
                  <a:pt x="1435" y="8342"/>
                  <a:pt x="601" y="10543"/>
                  <a:pt x="301" y="12912"/>
                </a:cubicBezTo>
                <a:cubicBezTo>
                  <a:pt x="168" y="13846"/>
                  <a:pt x="67" y="14746"/>
                  <a:pt x="201" y="15647"/>
                </a:cubicBezTo>
                <a:cubicBezTo>
                  <a:pt x="334" y="16381"/>
                  <a:pt x="334" y="17048"/>
                  <a:pt x="134" y="17749"/>
                </a:cubicBezTo>
                <a:cubicBezTo>
                  <a:pt x="1" y="18282"/>
                  <a:pt x="134" y="18582"/>
                  <a:pt x="568" y="18849"/>
                </a:cubicBezTo>
                <a:cubicBezTo>
                  <a:pt x="1135" y="19216"/>
                  <a:pt x="1735" y="19583"/>
                  <a:pt x="2236" y="20017"/>
                </a:cubicBezTo>
                <a:cubicBezTo>
                  <a:pt x="2912" y="20626"/>
                  <a:pt x="3634" y="20899"/>
                  <a:pt x="4423" y="20899"/>
                </a:cubicBezTo>
                <a:cubicBezTo>
                  <a:pt x="4801" y="20899"/>
                  <a:pt x="5194" y="20836"/>
                  <a:pt x="5605" y="20717"/>
                </a:cubicBezTo>
                <a:cubicBezTo>
                  <a:pt x="7339" y="20150"/>
                  <a:pt x="9141" y="19850"/>
                  <a:pt x="10942" y="19483"/>
                </a:cubicBezTo>
                <a:cubicBezTo>
                  <a:pt x="12543" y="19150"/>
                  <a:pt x="14244" y="19216"/>
                  <a:pt x="15845" y="18816"/>
                </a:cubicBezTo>
                <a:cubicBezTo>
                  <a:pt x="16246" y="18516"/>
                  <a:pt x="16646" y="18249"/>
                  <a:pt x="17013" y="17949"/>
                </a:cubicBezTo>
                <a:cubicBezTo>
                  <a:pt x="17280" y="17749"/>
                  <a:pt x="17580" y="17482"/>
                  <a:pt x="17580" y="17115"/>
                </a:cubicBezTo>
                <a:cubicBezTo>
                  <a:pt x="17613" y="16247"/>
                  <a:pt x="18214" y="15747"/>
                  <a:pt x="18781" y="15247"/>
                </a:cubicBezTo>
                <a:cubicBezTo>
                  <a:pt x="19081" y="14313"/>
                  <a:pt x="19348" y="13379"/>
                  <a:pt x="19515" y="12445"/>
                </a:cubicBezTo>
                <a:cubicBezTo>
                  <a:pt x="19581" y="12011"/>
                  <a:pt x="19715" y="11577"/>
                  <a:pt x="19648" y="11144"/>
                </a:cubicBezTo>
                <a:cubicBezTo>
                  <a:pt x="19515" y="9476"/>
                  <a:pt x="19114" y="7942"/>
                  <a:pt x="17914" y="6707"/>
                </a:cubicBezTo>
                <a:cubicBezTo>
                  <a:pt x="17346" y="6340"/>
                  <a:pt x="16946" y="5807"/>
                  <a:pt x="16479" y="5340"/>
                </a:cubicBezTo>
                <a:cubicBezTo>
                  <a:pt x="16346" y="5173"/>
                  <a:pt x="16246" y="4939"/>
                  <a:pt x="16212" y="4706"/>
                </a:cubicBezTo>
                <a:cubicBezTo>
                  <a:pt x="16112" y="3872"/>
                  <a:pt x="15845" y="3138"/>
                  <a:pt x="15312" y="2504"/>
                </a:cubicBezTo>
                <a:cubicBezTo>
                  <a:pt x="15245" y="2404"/>
                  <a:pt x="15278" y="2271"/>
                  <a:pt x="15245" y="2137"/>
                </a:cubicBezTo>
                <a:cubicBezTo>
                  <a:pt x="15178" y="2104"/>
                  <a:pt x="15078" y="2071"/>
                  <a:pt x="15011" y="2037"/>
                </a:cubicBezTo>
                <a:lnTo>
                  <a:pt x="14978" y="2037"/>
                </a:lnTo>
                <a:cubicBezTo>
                  <a:pt x="13977" y="1003"/>
                  <a:pt x="12810" y="303"/>
                  <a:pt x="11376" y="169"/>
                </a:cubicBezTo>
                <a:cubicBezTo>
                  <a:pt x="11142" y="136"/>
                  <a:pt x="10909" y="136"/>
                  <a:pt x="10675" y="103"/>
                </a:cubicBezTo>
                <a:cubicBezTo>
                  <a:pt x="10316" y="34"/>
                  <a:pt x="9962" y="1"/>
                  <a:pt x="9613" y="1"/>
                </a:cubicBez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5" b="1">
                <a:solidFill>
                  <a:srgbClr val="000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3</a:t>
            </a:r>
            <a:endParaRPr sz="1865">
              <a:solidFill>
                <a:srgbClr val="000000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7094855" y="2131695"/>
            <a:ext cx="1022985" cy="718820"/>
          </a:xfrm>
          <a:custGeom>
            <a:avLst/>
            <a:gdLst/>
            <a:ahLst/>
            <a:cxnLst/>
            <a:rect l="l" t="t" r="r" b="b"/>
            <a:pathLst>
              <a:path w="61645" h="34811" extrusionOk="0">
                <a:moveTo>
                  <a:pt x="54323" y="0"/>
                </a:moveTo>
                <a:cubicBezTo>
                  <a:pt x="53924" y="0"/>
                  <a:pt x="53683" y="328"/>
                  <a:pt x="53705" y="920"/>
                </a:cubicBezTo>
                <a:cubicBezTo>
                  <a:pt x="53705" y="1153"/>
                  <a:pt x="53805" y="1454"/>
                  <a:pt x="53939" y="1654"/>
                </a:cubicBezTo>
                <a:cubicBezTo>
                  <a:pt x="54472" y="2288"/>
                  <a:pt x="55040" y="2888"/>
                  <a:pt x="55607" y="3488"/>
                </a:cubicBezTo>
                <a:cubicBezTo>
                  <a:pt x="56174" y="4122"/>
                  <a:pt x="56774" y="4723"/>
                  <a:pt x="57375" y="5323"/>
                </a:cubicBezTo>
                <a:cubicBezTo>
                  <a:pt x="57341" y="5423"/>
                  <a:pt x="57308" y="5490"/>
                  <a:pt x="57274" y="5557"/>
                </a:cubicBezTo>
                <a:lnTo>
                  <a:pt x="56774" y="5557"/>
                </a:lnTo>
                <a:cubicBezTo>
                  <a:pt x="55507" y="5390"/>
                  <a:pt x="54272" y="5256"/>
                  <a:pt x="53005" y="5056"/>
                </a:cubicBezTo>
                <a:cubicBezTo>
                  <a:pt x="50303" y="4681"/>
                  <a:pt x="47620" y="4437"/>
                  <a:pt x="44913" y="4437"/>
                </a:cubicBezTo>
                <a:cubicBezTo>
                  <a:pt x="44011" y="4437"/>
                  <a:pt x="43106" y="4464"/>
                  <a:pt x="42197" y="4523"/>
                </a:cubicBezTo>
                <a:cubicBezTo>
                  <a:pt x="38294" y="4823"/>
                  <a:pt x="34391" y="5156"/>
                  <a:pt x="30555" y="6190"/>
                </a:cubicBezTo>
                <a:cubicBezTo>
                  <a:pt x="26286" y="7358"/>
                  <a:pt x="22249" y="8892"/>
                  <a:pt x="18680" y="11561"/>
                </a:cubicBezTo>
                <a:cubicBezTo>
                  <a:pt x="18313" y="11828"/>
                  <a:pt x="17880" y="12095"/>
                  <a:pt x="17513" y="12361"/>
                </a:cubicBezTo>
                <a:cubicBezTo>
                  <a:pt x="12142" y="15997"/>
                  <a:pt x="7506" y="20401"/>
                  <a:pt x="4003" y="25871"/>
                </a:cubicBezTo>
                <a:cubicBezTo>
                  <a:pt x="2369" y="28406"/>
                  <a:pt x="934" y="31008"/>
                  <a:pt x="167" y="33944"/>
                </a:cubicBezTo>
                <a:cubicBezTo>
                  <a:pt x="100" y="34177"/>
                  <a:pt x="100" y="34411"/>
                  <a:pt x="0" y="34811"/>
                </a:cubicBezTo>
                <a:cubicBezTo>
                  <a:pt x="634" y="34377"/>
                  <a:pt x="801" y="33844"/>
                  <a:pt x="1034" y="33377"/>
                </a:cubicBezTo>
                <a:cubicBezTo>
                  <a:pt x="3369" y="28273"/>
                  <a:pt x="6472" y="23703"/>
                  <a:pt x="10541" y="19800"/>
                </a:cubicBezTo>
                <a:cubicBezTo>
                  <a:pt x="11375" y="19033"/>
                  <a:pt x="12209" y="18266"/>
                  <a:pt x="13010" y="17499"/>
                </a:cubicBezTo>
                <a:cubicBezTo>
                  <a:pt x="16145" y="14663"/>
                  <a:pt x="19714" y="12395"/>
                  <a:pt x="23417" y="10427"/>
                </a:cubicBezTo>
                <a:cubicBezTo>
                  <a:pt x="26886" y="8559"/>
                  <a:pt x="30756" y="7658"/>
                  <a:pt x="34625" y="6924"/>
                </a:cubicBezTo>
                <a:cubicBezTo>
                  <a:pt x="36693" y="6557"/>
                  <a:pt x="38828" y="6391"/>
                  <a:pt x="40963" y="6290"/>
                </a:cubicBezTo>
                <a:cubicBezTo>
                  <a:pt x="42300" y="6220"/>
                  <a:pt x="43647" y="6178"/>
                  <a:pt x="44993" y="6178"/>
                </a:cubicBezTo>
                <a:cubicBezTo>
                  <a:pt x="46199" y="6178"/>
                  <a:pt x="47404" y="6212"/>
                  <a:pt x="48602" y="6290"/>
                </a:cubicBezTo>
                <a:cubicBezTo>
                  <a:pt x="51604" y="6491"/>
                  <a:pt x="54573" y="6991"/>
                  <a:pt x="57575" y="7358"/>
                </a:cubicBezTo>
                <a:cubicBezTo>
                  <a:pt x="57641" y="7358"/>
                  <a:pt x="57708" y="7425"/>
                  <a:pt x="57842" y="7525"/>
                </a:cubicBezTo>
                <a:cubicBezTo>
                  <a:pt x="57608" y="7792"/>
                  <a:pt x="57408" y="8025"/>
                  <a:pt x="57174" y="8259"/>
                </a:cubicBezTo>
                <a:cubicBezTo>
                  <a:pt x="56240" y="9126"/>
                  <a:pt x="55306" y="9993"/>
                  <a:pt x="54406" y="10860"/>
                </a:cubicBezTo>
                <a:cubicBezTo>
                  <a:pt x="54106" y="11127"/>
                  <a:pt x="53839" y="11394"/>
                  <a:pt x="53639" y="11728"/>
                </a:cubicBezTo>
                <a:cubicBezTo>
                  <a:pt x="53438" y="12028"/>
                  <a:pt x="53205" y="12428"/>
                  <a:pt x="53505" y="12795"/>
                </a:cubicBezTo>
                <a:cubicBezTo>
                  <a:pt x="53726" y="13089"/>
                  <a:pt x="54019" y="13203"/>
                  <a:pt x="54344" y="13203"/>
                </a:cubicBezTo>
                <a:cubicBezTo>
                  <a:pt x="54461" y="13203"/>
                  <a:pt x="54582" y="13189"/>
                  <a:pt x="54706" y="13162"/>
                </a:cubicBezTo>
                <a:cubicBezTo>
                  <a:pt x="54939" y="13129"/>
                  <a:pt x="55173" y="12929"/>
                  <a:pt x="55373" y="12762"/>
                </a:cubicBezTo>
                <a:cubicBezTo>
                  <a:pt x="57274" y="11094"/>
                  <a:pt x="59142" y="9393"/>
                  <a:pt x="61044" y="7691"/>
                </a:cubicBezTo>
                <a:cubicBezTo>
                  <a:pt x="61644" y="7158"/>
                  <a:pt x="61644" y="6624"/>
                  <a:pt x="61044" y="6024"/>
                </a:cubicBezTo>
                <a:cubicBezTo>
                  <a:pt x="60644" y="5623"/>
                  <a:pt x="60143" y="5323"/>
                  <a:pt x="59810" y="4889"/>
                </a:cubicBezTo>
                <a:cubicBezTo>
                  <a:pt x="58575" y="3122"/>
                  <a:pt x="56674" y="2021"/>
                  <a:pt x="55273" y="420"/>
                </a:cubicBezTo>
                <a:cubicBezTo>
                  <a:pt x="55173" y="320"/>
                  <a:pt x="55073" y="286"/>
                  <a:pt x="54973" y="219"/>
                </a:cubicBezTo>
                <a:cubicBezTo>
                  <a:pt x="54729" y="71"/>
                  <a:pt x="54509" y="0"/>
                  <a:pt x="5432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4256649" y="4463169"/>
            <a:ext cx="604216" cy="1030503"/>
          </a:xfrm>
          <a:custGeom>
            <a:avLst/>
            <a:gdLst/>
            <a:ahLst/>
            <a:cxnLst/>
            <a:rect l="l" t="t" r="r" b="b"/>
            <a:pathLst>
              <a:path w="29255" h="49895" extrusionOk="0">
                <a:moveTo>
                  <a:pt x="28352" y="0"/>
                </a:moveTo>
                <a:cubicBezTo>
                  <a:pt x="28098" y="0"/>
                  <a:pt x="27852" y="48"/>
                  <a:pt x="27620" y="110"/>
                </a:cubicBezTo>
                <a:cubicBezTo>
                  <a:pt x="26386" y="443"/>
                  <a:pt x="25151" y="777"/>
                  <a:pt x="23951" y="1244"/>
                </a:cubicBezTo>
                <a:cubicBezTo>
                  <a:pt x="22349" y="1844"/>
                  <a:pt x="21049" y="2845"/>
                  <a:pt x="19914" y="4179"/>
                </a:cubicBezTo>
                <a:cubicBezTo>
                  <a:pt x="17079" y="7515"/>
                  <a:pt x="15578" y="11384"/>
                  <a:pt x="15011" y="15687"/>
                </a:cubicBezTo>
                <a:cubicBezTo>
                  <a:pt x="14611" y="19057"/>
                  <a:pt x="14310" y="22459"/>
                  <a:pt x="14210" y="25861"/>
                </a:cubicBezTo>
                <a:cubicBezTo>
                  <a:pt x="14110" y="29931"/>
                  <a:pt x="13210" y="33834"/>
                  <a:pt x="11608" y="37536"/>
                </a:cubicBezTo>
                <a:cubicBezTo>
                  <a:pt x="10541" y="40038"/>
                  <a:pt x="8940" y="42140"/>
                  <a:pt x="6505" y="43374"/>
                </a:cubicBezTo>
                <a:cubicBezTo>
                  <a:pt x="5337" y="43941"/>
                  <a:pt x="4036" y="44275"/>
                  <a:pt x="2735" y="44742"/>
                </a:cubicBezTo>
                <a:cubicBezTo>
                  <a:pt x="2936" y="43874"/>
                  <a:pt x="3403" y="43241"/>
                  <a:pt x="3803" y="42540"/>
                </a:cubicBezTo>
                <a:cubicBezTo>
                  <a:pt x="4003" y="42173"/>
                  <a:pt x="4203" y="41773"/>
                  <a:pt x="4370" y="41373"/>
                </a:cubicBezTo>
                <a:cubicBezTo>
                  <a:pt x="4470" y="41072"/>
                  <a:pt x="4437" y="40705"/>
                  <a:pt x="4103" y="40605"/>
                </a:cubicBezTo>
                <a:cubicBezTo>
                  <a:pt x="4014" y="40583"/>
                  <a:pt x="3918" y="40572"/>
                  <a:pt x="3820" y="40572"/>
                </a:cubicBezTo>
                <a:cubicBezTo>
                  <a:pt x="3625" y="40572"/>
                  <a:pt x="3425" y="40616"/>
                  <a:pt x="3269" y="40705"/>
                </a:cubicBezTo>
                <a:cubicBezTo>
                  <a:pt x="3069" y="40839"/>
                  <a:pt x="2936" y="41106"/>
                  <a:pt x="2802" y="41339"/>
                </a:cubicBezTo>
                <a:cubicBezTo>
                  <a:pt x="2435" y="41873"/>
                  <a:pt x="2068" y="42440"/>
                  <a:pt x="1768" y="43007"/>
                </a:cubicBezTo>
                <a:cubicBezTo>
                  <a:pt x="1301" y="43908"/>
                  <a:pt x="834" y="44842"/>
                  <a:pt x="434" y="45776"/>
                </a:cubicBezTo>
                <a:cubicBezTo>
                  <a:pt x="0" y="46843"/>
                  <a:pt x="134" y="47243"/>
                  <a:pt x="1068" y="47877"/>
                </a:cubicBezTo>
                <a:cubicBezTo>
                  <a:pt x="1234" y="47977"/>
                  <a:pt x="1401" y="48111"/>
                  <a:pt x="1601" y="48211"/>
                </a:cubicBezTo>
                <a:cubicBezTo>
                  <a:pt x="2735" y="48711"/>
                  <a:pt x="3903" y="49078"/>
                  <a:pt x="4937" y="49779"/>
                </a:cubicBezTo>
                <a:cubicBezTo>
                  <a:pt x="5058" y="49860"/>
                  <a:pt x="5208" y="49894"/>
                  <a:pt x="5362" y="49894"/>
                </a:cubicBezTo>
                <a:cubicBezTo>
                  <a:pt x="5716" y="49894"/>
                  <a:pt x="6099" y="49711"/>
                  <a:pt x="6238" y="49478"/>
                </a:cubicBezTo>
                <a:cubicBezTo>
                  <a:pt x="6405" y="49211"/>
                  <a:pt x="6205" y="48578"/>
                  <a:pt x="5804" y="48311"/>
                </a:cubicBezTo>
                <a:cubicBezTo>
                  <a:pt x="5504" y="48077"/>
                  <a:pt x="5137" y="47911"/>
                  <a:pt x="4804" y="47744"/>
                </a:cubicBezTo>
                <a:cubicBezTo>
                  <a:pt x="4237" y="47410"/>
                  <a:pt x="3703" y="47043"/>
                  <a:pt x="3102" y="46443"/>
                </a:cubicBezTo>
                <a:cubicBezTo>
                  <a:pt x="4003" y="46109"/>
                  <a:pt x="4770" y="45776"/>
                  <a:pt x="5537" y="45542"/>
                </a:cubicBezTo>
                <a:cubicBezTo>
                  <a:pt x="8106" y="44775"/>
                  <a:pt x="10107" y="43207"/>
                  <a:pt x="11508" y="41039"/>
                </a:cubicBezTo>
                <a:cubicBezTo>
                  <a:pt x="14110" y="37036"/>
                  <a:pt x="15178" y="32466"/>
                  <a:pt x="15711" y="27796"/>
                </a:cubicBezTo>
                <a:cubicBezTo>
                  <a:pt x="15945" y="25561"/>
                  <a:pt x="15878" y="23293"/>
                  <a:pt x="16045" y="21058"/>
                </a:cubicBezTo>
                <a:cubicBezTo>
                  <a:pt x="16245" y="18890"/>
                  <a:pt x="16512" y="16722"/>
                  <a:pt x="16812" y="14553"/>
                </a:cubicBezTo>
                <a:cubicBezTo>
                  <a:pt x="17179" y="11651"/>
                  <a:pt x="18313" y="9049"/>
                  <a:pt x="19948" y="6614"/>
                </a:cubicBezTo>
                <a:cubicBezTo>
                  <a:pt x="21349" y="4479"/>
                  <a:pt x="23217" y="2912"/>
                  <a:pt x="25618" y="2011"/>
                </a:cubicBezTo>
                <a:cubicBezTo>
                  <a:pt x="26486" y="1677"/>
                  <a:pt x="27386" y="1311"/>
                  <a:pt x="28254" y="944"/>
                </a:cubicBezTo>
                <a:cubicBezTo>
                  <a:pt x="28621" y="777"/>
                  <a:pt x="29054" y="677"/>
                  <a:pt x="29254" y="243"/>
                </a:cubicBezTo>
                <a:cubicBezTo>
                  <a:pt x="28950" y="64"/>
                  <a:pt x="28646" y="0"/>
                  <a:pt x="2835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9" name="Google Shape;459;p8"/>
          <p:cNvSpPr/>
          <p:nvPr/>
        </p:nvSpPr>
        <p:spPr>
          <a:xfrm rot="1739360">
            <a:off x="4287084" y="2404068"/>
            <a:ext cx="989352" cy="310803"/>
          </a:xfrm>
          <a:custGeom>
            <a:avLst/>
            <a:gdLst/>
            <a:ahLst/>
            <a:cxnLst/>
            <a:rect l="l" t="t" r="r" b="b"/>
            <a:pathLst>
              <a:path w="47901" h="15048" extrusionOk="0">
                <a:moveTo>
                  <a:pt x="28871" y="1"/>
                </a:moveTo>
                <a:cubicBezTo>
                  <a:pt x="25629" y="1"/>
                  <a:pt x="22402" y="386"/>
                  <a:pt x="19214" y="1141"/>
                </a:cubicBezTo>
                <a:cubicBezTo>
                  <a:pt x="16378" y="1809"/>
                  <a:pt x="13643" y="2776"/>
                  <a:pt x="11175" y="4344"/>
                </a:cubicBezTo>
                <a:cubicBezTo>
                  <a:pt x="8039" y="6345"/>
                  <a:pt x="5137" y="8613"/>
                  <a:pt x="2602" y="11349"/>
                </a:cubicBezTo>
                <a:cubicBezTo>
                  <a:pt x="2469" y="11482"/>
                  <a:pt x="2302" y="11549"/>
                  <a:pt x="2068" y="11716"/>
                </a:cubicBezTo>
                <a:cubicBezTo>
                  <a:pt x="2135" y="11449"/>
                  <a:pt x="2135" y="11282"/>
                  <a:pt x="2168" y="11149"/>
                </a:cubicBezTo>
                <a:cubicBezTo>
                  <a:pt x="2602" y="9314"/>
                  <a:pt x="2902" y="7446"/>
                  <a:pt x="2902" y="5545"/>
                </a:cubicBezTo>
                <a:cubicBezTo>
                  <a:pt x="2902" y="5111"/>
                  <a:pt x="2802" y="4677"/>
                  <a:pt x="2635" y="4277"/>
                </a:cubicBezTo>
                <a:cubicBezTo>
                  <a:pt x="2554" y="4053"/>
                  <a:pt x="2373" y="3941"/>
                  <a:pt x="2175" y="3941"/>
                </a:cubicBezTo>
                <a:cubicBezTo>
                  <a:pt x="2050" y="3941"/>
                  <a:pt x="1918" y="3986"/>
                  <a:pt x="1801" y="4077"/>
                </a:cubicBezTo>
                <a:cubicBezTo>
                  <a:pt x="1601" y="4277"/>
                  <a:pt x="1401" y="4577"/>
                  <a:pt x="1334" y="4877"/>
                </a:cubicBezTo>
                <a:cubicBezTo>
                  <a:pt x="1234" y="5311"/>
                  <a:pt x="1234" y="5745"/>
                  <a:pt x="1201" y="6212"/>
                </a:cubicBezTo>
                <a:cubicBezTo>
                  <a:pt x="967" y="8313"/>
                  <a:pt x="767" y="10415"/>
                  <a:pt x="134" y="12483"/>
                </a:cubicBezTo>
                <a:cubicBezTo>
                  <a:pt x="0" y="12983"/>
                  <a:pt x="100" y="13584"/>
                  <a:pt x="167" y="14151"/>
                </a:cubicBezTo>
                <a:cubicBezTo>
                  <a:pt x="200" y="14351"/>
                  <a:pt x="400" y="14584"/>
                  <a:pt x="567" y="14685"/>
                </a:cubicBezTo>
                <a:cubicBezTo>
                  <a:pt x="941" y="14898"/>
                  <a:pt x="1336" y="15047"/>
                  <a:pt x="1769" y="15047"/>
                </a:cubicBezTo>
                <a:cubicBezTo>
                  <a:pt x="1877" y="15047"/>
                  <a:pt x="1988" y="15038"/>
                  <a:pt x="2102" y="15018"/>
                </a:cubicBezTo>
                <a:cubicBezTo>
                  <a:pt x="4270" y="14751"/>
                  <a:pt x="6438" y="14484"/>
                  <a:pt x="8606" y="14218"/>
                </a:cubicBezTo>
                <a:cubicBezTo>
                  <a:pt x="9140" y="14117"/>
                  <a:pt x="9640" y="13984"/>
                  <a:pt x="10141" y="13817"/>
                </a:cubicBezTo>
                <a:cubicBezTo>
                  <a:pt x="10541" y="13684"/>
                  <a:pt x="10808" y="13417"/>
                  <a:pt x="10708" y="12950"/>
                </a:cubicBezTo>
                <a:cubicBezTo>
                  <a:pt x="10608" y="12550"/>
                  <a:pt x="10207" y="12116"/>
                  <a:pt x="9807" y="12083"/>
                </a:cubicBezTo>
                <a:cubicBezTo>
                  <a:pt x="9749" y="12073"/>
                  <a:pt x="9690" y="12069"/>
                  <a:pt x="9630" y="12069"/>
                </a:cubicBezTo>
                <a:cubicBezTo>
                  <a:pt x="9487" y="12069"/>
                  <a:pt x="9338" y="12092"/>
                  <a:pt x="9173" y="12116"/>
                </a:cubicBezTo>
                <a:cubicBezTo>
                  <a:pt x="8206" y="12249"/>
                  <a:pt x="7205" y="12450"/>
                  <a:pt x="6205" y="12550"/>
                </a:cubicBezTo>
                <a:cubicBezTo>
                  <a:pt x="5682" y="12633"/>
                  <a:pt x="5160" y="12704"/>
                  <a:pt x="4605" y="12704"/>
                </a:cubicBezTo>
                <a:cubicBezTo>
                  <a:pt x="4273" y="12704"/>
                  <a:pt x="3931" y="12679"/>
                  <a:pt x="3569" y="12616"/>
                </a:cubicBezTo>
                <a:cubicBezTo>
                  <a:pt x="4003" y="12149"/>
                  <a:pt x="4337" y="11816"/>
                  <a:pt x="4670" y="11449"/>
                </a:cubicBezTo>
                <a:cubicBezTo>
                  <a:pt x="6838" y="9247"/>
                  <a:pt x="9273" y="7346"/>
                  <a:pt x="11909" y="5745"/>
                </a:cubicBezTo>
                <a:cubicBezTo>
                  <a:pt x="12909" y="5111"/>
                  <a:pt x="13943" y="4544"/>
                  <a:pt x="15044" y="4110"/>
                </a:cubicBezTo>
                <a:cubicBezTo>
                  <a:pt x="19047" y="2376"/>
                  <a:pt x="23283" y="1608"/>
                  <a:pt x="27653" y="1442"/>
                </a:cubicBezTo>
                <a:cubicBezTo>
                  <a:pt x="28492" y="1412"/>
                  <a:pt x="29331" y="1391"/>
                  <a:pt x="30169" y="1391"/>
                </a:cubicBezTo>
                <a:cubicBezTo>
                  <a:pt x="32163" y="1391"/>
                  <a:pt x="34153" y="1509"/>
                  <a:pt x="36126" y="1909"/>
                </a:cubicBezTo>
                <a:cubicBezTo>
                  <a:pt x="39328" y="2542"/>
                  <a:pt x="42297" y="3677"/>
                  <a:pt x="45099" y="5378"/>
                </a:cubicBezTo>
                <a:cubicBezTo>
                  <a:pt x="45966" y="5912"/>
                  <a:pt x="46867" y="6379"/>
                  <a:pt x="47901" y="6979"/>
                </a:cubicBezTo>
                <a:cubicBezTo>
                  <a:pt x="47734" y="6112"/>
                  <a:pt x="47201" y="5778"/>
                  <a:pt x="46700" y="5411"/>
                </a:cubicBezTo>
                <a:cubicBezTo>
                  <a:pt x="43131" y="2676"/>
                  <a:pt x="39061" y="1041"/>
                  <a:pt x="34625" y="408"/>
                </a:cubicBezTo>
                <a:cubicBezTo>
                  <a:pt x="32705" y="135"/>
                  <a:pt x="30786" y="1"/>
                  <a:pt x="28871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7317289" y="4317864"/>
            <a:ext cx="828121" cy="209757"/>
          </a:xfrm>
          <a:custGeom>
            <a:avLst/>
            <a:gdLst/>
            <a:ahLst/>
            <a:cxnLst/>
            <a:rect l="l" t="t" r="r" b="b"/>
            <a:pathLst>
              <a:path w="40096" h="10156" extrusionOk="0">
                <a:moveTo>
                  <a:pt x="33160" y="0"/>
                </a:moveTo>
                <a:cubicBezTo>
                  <a:pt x="32817" y="0"/>
                  <a:pt x="32513" y="149"/>
                  <a:pt x="32357" y="416"/>
                </a:cubicBezTo>
                <a:cubicBezTo>
                  <a:pt x="32090" y="816"/>
                  <a:pt x="32224" y="1483"/>
                  <a:pt x="32724" y="1817"/>
                </a:cubicBezTo>
                <a:cubicBezTo>
                  <a:pt x="33258" y="2217"/>
                  <a:pt x="33858" y="2550"/>
                  <a:pt x="34459" y="2884"/>
                </a:cubicBezTo>
                <a:cubicBezTo>
                  <a:pt x="34792" y="3084"/>
                  <a:pt x="35159" y="3284"/>
                  <a:pt x="35626" y="3551"/>
                </a:cubicBezTo>
                <a:cubicBezTo>
                  <a:pt x="35259" y="3618"/>
                  <a:pt x="35092" y="3685"/>
                  <a:pt x="34926" y="3718"/>
                </a:cubicBezTo>
                <a:cubicBezTo>
                  <a:pt x="32573" y="3877"/>
                  <a:pt x="30221" y="4187"/>
                  <a:pt x="27869" y="4187"/>
                </a:cubicBezTo>
                <a:cubicBezTo>
                  <a:pt x="27753" y="4187"/>
                  <a:pt x="27636" y="4187"/>
                  <a:pt x="27520" y="4185"/>
                </a:cubicBezTo>
                <a:cubicBezTo>
                  <a:pt x="24818" y="4152"/>
                  <a:pt x="22116" y="3851"/>
                  <a:pt x="19481" y="3451"/>
                </a:cubicBezTo>
                <a:cubicBezTo>
                  <a:pt x="17046" y="3118"/>
                  <a:pt x="14678" y="2517"/>
                  <a:pt x="12276" y="1983"/>
                </a:cubicBezTo>
                <a:cubicBezTo>
                  <a:pt x="10074" y="1482"/>
                  <a:pt x="7896" y="1027"/>
                  <a:pt x="5644" y="1027"/>
                </a:cubicBezTo>
                <a:cubicBezTo>
                  <a:pt x="5200" y="1027"/>
                  <a:pt x="4754" y="1044"/>
                  <a:pt x="4304" y="1083"/>
                </a:cubicBezTo>
                <a:cubicBezTo>
                  <a:pt x="3170" y="1183"/>
                  <a:pt x="2135" y="1416"/>
                  <a:pt x="1135" y="1850"/>
                </a:cubicBezTo>
                <a:cubicBezTo>
                  <a:pt x="668" y="2017"/>
                  <a:pt x="201" y="2250"/>
                  <a:pt x="1" y="2817"/>
                </a:cubicBezTo>
                <a:cubicBezTo>
                  <a:pt x="154" y="2971"/>
                  <a:pt x="294" y="3018"/>
                  <a:pt x="429" y="3018"/>
                </a:cubicBezTo>
                <a:cubicBezTo>
                  <a:pt x="587" y="3018"/>
                  <a:pt x="739" y="2953"/>
                  <a:pt x="901" y="2917"/>
                </a:cubicBezTo>
                <a:cubicBezTo>
                  <a:pt x="1435" y="2751"/>
                  <a:pt x="2035" y="2517"/>
                  <a:pt x="2602" y="2484"/>
                </a:cubicBezTo>
                <a:cubicBezTo>
                  <a:pt x="3423" y="2445"/>
                  <a:pt x="4255" y="2428"/>
                  <a:pt x="5085" y="2428"/>
                </a:cubicBezTo>
                <a:cubicBezTo>
                  <a:pt x="5672" y="2428"/>
                  <a:pt x="6259" y="2437"/>
                  <a:pt x="6839" y="2450"/>
                </a:cubicBezTo>
                <a:cubicBezTo>
                  <a:pt x="7406" y="2450"/>
                  <a:pt x="7973" y="2517"/>
                  <a:pt x="8507" y="2651"/>
                </a:cubicBezTo>
                <a:cubicBezTo>
                  <a:pt x="10275" y="3051"/>
                  <a:pt x="12009" y="3484"/>
                  <a:pt x="13777" y="3885"/>
                </a:cubicBezTo>
                <a:cubicBezTo>
                  <a:pt x="15178" y="4218"/>
                  <a:pt x="16579" y="4585"/>
                  <a:pt x="18013" y="4785"/>
                </a:cubicBezTo>
                <a:cubicBezTo>
                  <a:pt x="20015" y="5119"/>
                  <a:pt x="22016" y="5319"/>
                  <a:pt x="23984" y="5586"/>
                </a:cubicBezTo>
                <a:cubicBezTo>
                  <a:pt x="25250" y="5754"/>
                  <a:pt x="26510" y="5817"/>
                  <a:pt x="27765" y="5817"/>
                </a:cubicBezTo>
                <a:cubicBezTo>
                  <a:pt x="29255" y="5817"/>
                  <a:pt x="30739" y="5728"/>
                  <a:pt x="32224" y="5619"/>
                </a:cubicBezTo>
                <a:cubicBezTo>
                  <a:pt x="33558" y="5519"/>
                  <a:pt x="34859" y="5352"/>
                  <a:pt x="36293" y="5219"/>
                </a:cubicBezTo>
                <a:lnTo>
                  <a:pt x="36293" y="5219"/>
                </a:lnTo>
                <a:cubicBezTo>
                  <a:pt x="36026" y="5519"/>
                  <a:pt x="35860" y="5686"/>
                  <a:pt x="35693" y="5886"/>
                </a:cubicBezTo>
                <a:cubicBezTo>
                  <a:pt x="34992" y="6820"/>
                  <a:pt x="34225" y="7754"/>
                  <a:pt x="33591" y="8755"/>
                </a:cubicBezTo>
                <a:cubicBezTo>
                  <a:pt x="33091" y="9522"/>
                  <a:pt x="33491" y="10156"/>
                  <a:pt x="34425" y="10156"/>
                </a:cubicBezTo>
                <a:cubicBezTo>
                  <a:pt x="34725" y="10156"/>
                  <a:pt x="35059" y="10022"/>
                  <a:pt x="35259" y="9789"/>
                </a:cubicBezTo>
                <a:cubicBezTo>
                  <a:pt x="36493" y="8521"/>
                  <a:pt x="37694" y="7187"/>
                  <a:pt x="38862" y="5886"/>
                </a:cubicBezTo>
                <a:cubicBezTo>
                  <a:pt x="39062" y="5686"/>
                  <a:pt x="39129" y="5386"/>
                  <a:pt x="39329" y="5186"/>
                </a:cubicBezTo>
                <a:cubicBezTo>
                  <a:pt x="40096" y="4318"/>
                  <a:pt x="39929" y="3585"/>
                  <a:pt x="38862" y="3151"/>
                </a:cubicBezTo>
                <a:cubicBezTo>
                  <a:pt x="38261" y="2884"/>
                  <a:pt x="37661" y="2651"/>
                  <a:pt x="37094" y="2317"/>
                </a:cubicBezTo>
                <a:cubicBezTo>
                  <a:pt x="36293" y="1783"/>
                  <a:pt x="35526" y="1183"/>
                  <a:pt x="34725" y="649"/>
                </a:cubicBezTo>
                <a:cubicBezTo>
                  <a:pt x="34392" y="449"/>
                  <a:pt x="34058" y="249"/>
                  <a:pt x="33691" y="115"/>
                </a:cubicBezTo>
                <a:cubicBezTo>
                  <a:pt x="33513" y="38"/>
                  <a:pt x="33332" y="0"/>
                  <a:pt x="3316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5075461" y="2980445"/>
            <a:ext cx="2106019" cy="2116444"/>
          </a:xfrm>
          <a:custGeom>
            <a:avLst/>
            <a:gdLst/>
            <a:ahLst/>
            <a:cxnLst/>
            <a:rect l="l" t="t" r="r" b="b"/>
            <a:pathLst>
              <a:path w="76969" h="77350" extrusionOk="0">
                <a:moveTo>
                  <a:pt x="8703" y="0"/>
                </a:moveTo>
                <a:cubicBezTo>
                  <a:pt x="3903" y="0"/>
                  <a:pt x="1" y="3916"/>
                  <a:pt x="1" y="8699"/>
                </a:cubicBezTo>
                <a:lnTo>
                  <a:pt x="1" y="68223"/>
                </a:lnTo>
                <a:cubicBezTo>
                  <a:pt x="1" y="72710"/>
                  <a:pt x="3434" y="76594"/>
                  <a:pt x="8046" y="76895"/>
                </a:cubicBezTo>
                <a:lnTo>
                  <a:pt x="67570" y="77321"/>
                </a:lnTo>
                <a:cubicBezTo>
                  <a:pt x="67805" y="77340"/>
                  <a:pt x="68038" y="77349"/>
                  <a:pt x="68269" y="77349"/>
                </a:cubicBezTo>
                <a:cubicBezTo>
                  <a:pt x="72983" y="77349"/>
                  <a:pt x="76969" y="73523"/>
                  <a:pt x="76969" y="68650"/>
                </a:cubicBezTo>
                <a:lnTo>
                  <a:pt x="76969" y="9226"/>
                </a:lnTo>
                <a:cubicBezTo>
                  <a:pt x="76969" y="4639"/>
                  <a:pt x="73410" y="779"/>
                  <a:pt x="68924" y="454"/>
                </a:cubicBezTo>
                <a:lnTo>
                  <a:pt x="9399" y="28"/>
                </a:lnTo>
                <a:cubicBezTo>
                  <a:pt x="9165" y="9"/>
                  <a:pt x="8933" y="0"/>
                  <a:pt x="87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6127434" y="2955248"/>
            <a:ext cx="1054047" cy="404869"/>
          </a:xfrm>
          <a:custGeom>
            <a:avLst/>
            <a:gdLst/>
            <a:ahLst/>
            <a:cxnLst/>
            <a:rect l="l" t="t" r="r" b="b"/>
            <a:pathLst>
              <a:path w="42808" h="16443" extrusionOk="0">
                <a:moveTo>
                  <a:pt x="2917" y="1"/>
                </a:moveTo>
                <a:cubicBezTo>
                  <a:pt x="2200" y="1"/>
                  <a:pt x="1467" y="51"/>
                  <a:pt x="727" y="151"/>
                </a:cubicBezTo>
                <a:lnTo>
                  <a:pt x="627" y="151"/>
                </a:lnTo>
                <a:cubicBezTo>
                  <a:pt x="326" y="151"/>
                  <a:pt x="101" y="251"/>
                  <a:pt x="1" y="377"/>
                </a:cubicBezTo>
                <a:cubicBezTo>
                  <a:pt x="1" y="477"/>
                  <a:pt x="101" y="577"/>
                  <a:pt x="326" y="678"/>
                </a:cubicBezTo>
                <a:cubicBezTo>
                  <a:pt x="727" y="778"/>
                  <a:pt x="1053" y="878"/>
                  <a:pt x="1454" y="878"/>
                </a:cubicBezTo>
                <a:cubicBezTo>
                  <a:pt x="2707" y="1104"/>
                  <a:pt x="3960" y="1204"/>
                  <a:pt x="5539" y="1204"/>
                </a:cubicBezTo>
                <a:cubicBezTo>
                  <a:pt x="6241" y="1204"/>
                  <a:pt x="7032" y="1248"/>
                  <a:pt x="7882" y="1248"/>
                </a:cubicBezTo>
                <a:cubicBezTo>
                  <a:pt x="8307" y="1248"/>
                  <a:pt x="8747" y="1237"/>
                  <a:pt x="9199" y="1204"/>
                </a:cubicBezTo>
                <a:cubicBezTo>
                  <a:pt x="11379" y="1204"/>
                  <a:pt x="13585" y="1204"/>
                  <a:pt x="15665" y="1304"/>
                </a:cubicBezTo>
                <a:lnTo>
                  <a:pt x="17971" y="1204"/>
                </a:lnTo>
                <a:lnTo>
                  <a:pt x="24963" y="1204"/>
                </a:lnTo>
                <a:lnTo>
                  <a:pt x="31755" y="1104"/>
                </a:lnTo>
                <a:lnTo>
                  <a:pt x="34362" y="1104"/>
                </a:lnTo>
                <a:cubicBezTo>
                  <a:pt x="34662" y="1204"/>
                  <a:pt x="34888" y="1204"/>
                  <a:pt x="35189" y="1204"/>
                </a:cubicBezTo>
                <a:cubicBezTo>
                  <a:pt x="36442" y="1404"/>
                  <a:pt x="37595" y="1931"/>
                  <a:pt x="38748" y="2557"/>
                </a:cubicBezTo>
                <a:cubicBezTo>
                  <a:pt x="39800" y="3284"/>
                  <a:pt x="40627" y="4236"/>
                  <a:pt x="41254" y="5389"/>
                </a:cubicBezTo>
                <a:cubicBezTo>
                  <a:pt x="41680" y="6216"/>
                  <a:pt x="42081" y="7144"/>
                  <a:pt x="42307" y="8096"/>
                </a:cubicBezTo>
                <a:cubicBezTo>
                  <a:pt x="42507" y="8923"/>
                  <a:pt x="42407" y="9775"/>
                  <a:pt x="42507" y="10703"/>
                </a:cubicBezTo>
                <a:lnTo>
                  <a:pt x="42507" y="13309"/>
                </a:lnTo>
                <a:cubicBezTo>
                  <a:pt x="42507" y="14262"/>
                  <a:pt x="42607" y="15089"/>
                  <a:pt x="42607" y="15916"/>
                </a:cubicBezTo>
                <a:cubicBezTo>
                  <a:pt x="42607" y="16141"/>
                  <a:pt x="42708" y="16242"/>
                  <a:pt x="42708" y="16442"/>
                </a:cubicBezTo>
                <a:cubicBezTo>
                  <a:pt x="42808" y="16442"/>
                  <a:pt x="42808" y="16442"/>
                  <a:pt x="42808" y="16342"/>
                </a:cubicBezTo>
                <a:lnTo>
                  <a:pt x="42808" y="15715"/>
                </a:lnTo>
                <a:lnTo>
                  <a:pt x="42808" y="13735"/>
                </a:lnTo>
                <a:lnTo>
                  <a:pt x="42808" y="10803"/>
                </a:lnTo>
                <a:lnTo>
                  <a:pt x="42808" y="9249"/>
                </a:lnTo>
                <a:cubicBezTo>
                  <a:pt x="42808" y="8723"/>
                  <a:pt x="42708" y="8297"/>
                  <a:pt x="42708" y="7770"/>
                </a:cubicBezTo>
                <a:cubicBezTo>
                  <a:pt x="42407" y="6642"/>
                  <a:pt x="41981" y="5590"/>
                  <a:pt x="41354" y="4637"/>
                </a:cubicBezTo>
                <a:cubicBezTo>
                  <a:pt x="40001" y="2657"/>
                  <a:pt x="37921" y="1204"/>
                  <a:pt x="35615" y="678"/>
                </a:cubicBezTo>
                <a:cubicBezTo>
                  <a:pt x="35189" y="678"/>
                  <a:pt x="34888" y="678"/>
                  <a:pt x="34562" y="577"/>
                </a:cubicBezTo>
                <a:lnTo>
                  <a:pt x="29775" y="577"/>
                </a:lnTo>
                <a:lnTo>
                  <a:pt x="22557" y="477"/>
                </a:lnTo>
                <a:lnTo>
                  <a:pt x="15991" y="477"/>
                </a:lnTo>
                <a:cubicBezTo>
                  <a:pt x="14838" y="477"/>
                  <a:pt x="13685" y="377"/>
                  <a:pt x="12432" y="377"/>
                </a:cubicBezTo>
                <a:cubicBezTo>
                  <a:pt x="11866" y="405"/>
                  <a:pt x="11290" y="418"/>
                  <a:pt x="10707" y="418"/>
                </a:cubicBezTo>
                <a:cubicBezTo>
                  <a:pt x="9251" y="418"/>
                  <a:pt x="7752" y="341"/>
                  <a:pt x="6266" y="251"/>
                </a:cubicBezTo>
                <a:cubicBezTo>
                  <a:pt x="5840" y="251"/>
                  <a:pt x="5439" y="251"/>
                  <a:pt x="5013" y="151"/>
                </a:cubicBezTo>
                <a:cubicBezTo>
                  <a:pt x="4336" y="51"/>
                  <a:pt x="3635" y="1"/>
                  <a:pt x="2917" y="1"/>
                </a:cubicBez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3" name="Google Shape;463;p8"/>
          <p:cNvSpPr/>
          <p:nvPr/>
        </p:nvSpPr>
        <p:spPr>
          <a:xfrm flipH="1">
            <a:off x="6304753" y="3898662"/>
            <a:ext cx="881633" cy="1251321"/>
          </a:xfrm>
          <a:custGeom>
            <a:avLst/>
            <a:gdLst/>
            <a:ahLst/>
            <a:cxnLst/>
            <a:rect l="l" t="t" r="r" b="b"/>
            <a:pathLst>
              <a:path w="13994" h="19862" extrusionOk="0">
                <a:moveTo>
                  <a:pt x="936" y="0"/>
                </a:moveTo>
                <a:cubicBezTo>
                  <a:pt x="864" y="0"/>
                  <a:pt x="792" y="48"/>
                  <a:pt x="792" y="144"/>
                </a:cubicBezTo>
                <a:cubicBezTo>
                  <a:pt x="480" y="3337"/>
                  <a:pt x="288" y="6553"/>
                  <a:pt x="288" y="9745"/>
                </a:cubicBezTo>
                <a:cubicBezTo>
                  <a:pt x="288" y="11954"/>
                  <a:pt x="0" y="14546"/>
                  <a:pt x="888" y="16538"/>
                </a:cubicBezTo>
                <a:cubicBezTo>
                  <a:pt x="2008" y="19299"/>
                  <a:pt x="5721" y="19861"/>
                  <a:pt x="9129" y="19861"/>
                </a:cubicBezTo>
                <a:cubicBezTo>
                  <a:pt x="10906" y="19861"/>
                  <a:pt x="12601" y="19708"/>
                  <a:pt x="13802" y="19634"/>
                </a:cubicBezTo>
                <a:cubicBezTo>
                  <a:pt x="13994" y="19634"/>
                  <a:pt x="13994" y="19346"/>
                  <a:pt x="13802" y="19346"/>
                </a:cubicBezTo>
                <a:cubicBezTo>
                  <a:pt x="12489" y="19399"/>
                  <a:pt x="11176" y="19480"/>
                  <a:pt x="9863" y="19480"/>
                </a:cubicBezTo>
                <a:cubicBezTo>
                  <a:pt x="8776" y="19480"/>
                  <a:pt x="7688" y="19424"/>
                  <a:pt x="6601" y="19250"/>
                </a:cubicBezTo>
                <a:cubicBezTo>
                  <a:pt x="5281" y="19034"/>
                  <a:pt x="3985" y="18842"/>
                  <a:pt x="2784" y="18242"/>
                </a:cubicBezTo>
                <a:cubicBezTo>
                  <a:pt x="1296" y="17450"/>
                  <a:pt x="792" y="15938"/>
                  <a:pt x="696" y="14354"/>
                </a:cubicBezTo>
                <a:cubicBezTo>
                  <a:pt x="192" y="9649"/>
                  <a:pt x="600" y="4849"/>
                  <a:pt x="1080" y="144"/>
                </a:cubicBezTo>
                <a:cubicBezTo>
                  <a:pt x="1080" y="48"/>
                  <a:pt x="1008" y="0"/>
                  <a:pt x="936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5009171" y="4017479"/>
            <a:ext cx="736479" cy="1121664"/>
          </a:xfrm>
          <a:custGeom>
            <a:avLst/>
            <a:gdLst/>
            <a:ahLst/>
            <a:cxnLst/>
            <a:rect l="l" t="t" r="r" b="b"/>
            <a:pathLst>
              <a:path w="11690" h="17804" extrusionOk="0">
                <a:moveTo>
                  <a:pt x="445" y="0"/>
                </a:moveTo>
                <a:cubicBezTo>
                  <a:pt x="367" y="0"/>
                  <a:pt x="289" y="48"/>
                  <a:pt x="289" y="144"/>
                </a:cubicBezTo>
                <a:cubicBezTo>
                  <a:pt x="289" y="2448"/>
                  <a:pt x="192" y="4753"/>
                  <a:pt x="192" y="7057"/>
                </a:cubicBezTo>
                <a:cubicBezTo>
                  <a:pt x="96" y="9145"/>
                  <a:pt x="96" y="11353"/>
                  <a:pt x="889" y="13249"/>
                </a:cubicBezTo>
                <a:cubicBezTo>
                  <a:pt x="2448" y="16806"/>
                  <a:pt x="6261" y="17803"/>
                  <a:pt x="9859" y="17803"/>
                </a:cubicBezTo>
                <a:cubicBezTo>
                  <a:pt x="10413" y="17803"/>
                  <a:pt x="10962" y="17780"/>
                  <a:pt x="11498" y="17738"/>
                </a:cubicBezTo>
                <a:cubicBezTo>
                  <a:pt x="11690" y="17738"/>
                  <a:pt x="11690" y="17450"/>
                  <a:pt x="11498" y="17450"/>
                </a:cubicBezTo>
                <a:cubicBezTo>
                  <a:pt x="10990" y="17495"/>
                  <a:pt x="10474" y="17519"/>
                  <a:pt x="9956" y="17519"/>
                </a:cubicBezTo>
                <a:cubicBezTo>
                  <a:pt x="5777" y="17519"/>
                  <a:pt x="1498" y="15956"/>
                  <a:pt x="601" y="11257"/>
                </a:cubicBezTo>
                <a:cubicBezTo>
                  <a:pt x="0" y="7753"/>
                  <a:pt x="505" y="3744"/>
                  <a:pt x="601" y="144"/>
                </a:cubicBezTo>
                <a:cubicBezTo>
                  <a:pt x="601" y="48"/>
                  <a:pt x="523" y="0"/>
                  <a:pt x="445" y="0"/>
                </a:cubicBezTo>
                <a:close/>
              </a:path>
            </a:pathLst>
          </a:custGeom>
          <a:solidFill>
            <a:schemeClr val="accent4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5075457" y="2935131"/>
            <a:ext cx="785179" cy="160652"/>
          </a:xfrm>
          <a:custGeom>
            <a:avLst/>
            <a:gdLst/>
            <a:ahLst/>
            <a:cxnLst/>
            <a:rect l="l" t="t" r="r" b="b"/>
            <a:pathLst>
              <a:path w="12463" h="2550" extrusionOk="0">
                <a:moveTo>
                  <a:pt x="12324" y="0"/>
                </a:moveTo>
                <a:cubicBezTo>
                  <a:pt x="12303" y="0"/>
                  <a:pt x="12278" y="6"/>
                  <a:pt x="12250" y="18"/>
                </a:cubicBezTo>
                <a:cubicBezTo>
                  <a:pt x="11669" y="76"/>
                  <a:pt x="11074" y="96"/>
                  <a:pt x="10470" y="96"/>
                </a:cubicBezTo>
                <a:cubicBezTo>
                  <a:pt x="9297" y="96"/>
                  <a:pt x="8094" y="23"/>
                  <a:pt x="6910" y="23"/>
                </a:cubicBezTo>
                <a:cubicBezTo>
                  <a:pt x="4424" y="23"/>
                  <a:pt x="2021" y="343"/>
                  <a:pt x="153" y="2323"/>
                </a:cubicBezTo>
                <a:cubicBezTo>
                  <a:pt x="1" y="2399"/>
                  <a:pt x="89" y="2550"/>
                  <a:pt x="240" y="2550"/>
                </a:cubicBezTo>
                <a:cubicBezTo>
                  <a:pt x="280" y="2550"/>
                  <a:pt x="324" y="2540"/>
                  <a:pt x="369" y="2515"/>
                </a:cubicBezTo>
                <a:cubicBezTo>
                  <a:pt x="2139" y="635"/>
                  <a:pt x="4466" y="316"/>
                  <a:pt x="6879" y="316"/>
                </a:cubicBezTo>
                <a:cubicBezTo>
                  <a:pt x="8118" y="316"/>
                  <a:pt x="9379" y="400"/>
                  <a:pt x="10600" y="400"/>
                </a:cubicBezTo>
                <a:cubicBezTo>
                  <a:pt x="11160" y="400"/>
                  <a:pt x="11713" y="382"/>
                  <a:pt x="12250" y="330"/>
                </a:cubicBezTo>
                <a:cubicBezTo>
                  <a:pt x="12438" y="247"/>
                  <a:pt x="12462" y="0"/>
                  <a:pt x="12324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5986804" y="2984607"/>
            <a:ext cx="1155488" cy="443835"/>
          </a:xfrm>
          <a:custGeom>
            <a:avLst/>
            <a:gdLst/>
            <a:ahLst/>
            <a:cxnLst/>
            <a:rect l="l" t="t" r="r" b="b"/>
            <a:pathLst>
              <a:path w="42808" h="16443" extrusionOk="0">
                <a:moveTo>
                  <a:pt x="2917" y="1"/>
                </a:moveTo>
                <a:cubicBezTo>
                  <a:pt x="2200" y="1"/>
                  <a:pt x="1467" y="51"/>
                  <a:pt x="727" y="151"/>
                </a:cubicBezTo>
                <a:lnTo>
                  <a:pt x="627" y="151"/>
                </a:lnTo>
                <a:cubicBezTo>
                  <a:pt x="326" y="151"/>
                  <a:pt x="101" y="251"/>
                  <a:pt x="1" y="377"/>
                </a:cubicBezTo>
                <a:cubicBezTo>
                  <a:pt x="1" y="477"/>
                  <a:pt x="101" y="577"/>
                  <a:pt x="326" y="678"/>
                </a:cubicBezTo>
                <a:cubicBezTo>
                  <a:pt x="727" y="778"/>
                  <a:pt x="1053" y="878"/>
                  <a:pt x="1454" y="878"/>
                </a:cubicBezTo>
                <a:cubicBezTo>
                  <a:pt x="2707" y="1104"/>
                  <a:pt x="3960" y="1204"/>
                  <a:pt x="5539" y="1204"/>
                </a:cubicBezTo>
                <a:cubicBezTo>
                  <a:pt x="6241" y="1204"/>
                  <a:pt x="7032" y="1248"/>
                  <a:pt x="7882" y="1248"/>
                </a:cubicBezTo>
                <a:cubicBezTo>
                  <a:pt x="8307" y="1248"/>
                  <a:pt x="8747" y="1237"/>
                  <a:pt x="9199" y="1204"/>
                </a:cubicBezTo>
                <a:cubicBezTo>
                  <a:pt x="11379" y="1204"/>
                  <a:pt x="13585" y="1204"/>
                  <a:pt x="15665" y="1304"/>
                </a:cubicBezTo>
                <a:lnTo>
                  <a:pt x="17971" y="1204"/>
                </a:lnTo>
                <a:lnTo>
                  <a:pt x="24963" y="1204"/>
                </a:lnTo>
                <a:lnTo>
                  <a:pt x="31755" y="1104"/>
                </a:lnTo>
                <a:lnTo>
                  <a:pt x="34362" y="1104"/>
                </a:lnTo>
                <a:cubicBezTo>
                  <a:pt x="34662" y="1204"/>
                  <a:pt x="34888" y="1204"/>
                  <a:pt x="35189" y="1204"/>
                </a:cubicBezTo>
                <a:cubicBezTo>
                  <a:pt x="36442" y="1404"/>
                  <a:pt x="37595" y="1931"/>
                  <a:pt x="38748" y="2557"/>
                </a:cubicBezTo>
                <a:cubicBezTo>
                  <a:pt x="39800" y="3284"/>
                  <a:pt x="40627" y="4236"/>
                  <a:pt x="41254" y="5389"/>
                </a:cubicBezTo>
                <a:cubicBezTo>
                  <a:pt x="41680" y="6216"/>
                  <a:pt x="42081" y="7144"/>
                  <a:pt x="42307" y="8096"/>
                </a:cubicBezTo>
                <a:cubicBezTo>
                  <a:pt x="42507" y="8923"/>
                  <a:pt x="42407" y="9775"/>
                  <a:pt x="42507" y="10703"/>
                </a:cubicBezTo>
                <a:lnTo>
                  <a:pt x="42507" y="13309"/>
                </a:lnTo>
                <a:cubicBezTo>
                  <a:pt x="42507" y="14262"/>
                  <a:pt x="42607" y="15089"/>
                  <a:pt x="42607" y="15916"/>
                </a:cubicBezTo>
                <a:cubicBezTo>
                  <a:pt x="42607" y="16141"/>
                  <a:pt x="42708" y="16242"/>
                  <a:pt x="42708" y="16442"/>
                </a:cubicBezTo>
                <a:cubicBezTo>
                  <a:pt x="42808" y="16442"/>
                  <a:pt x="42808" y="16442"/>
                  <a:pt x="42808" y="16342"/>
                </a:cubicBezTo>
                <a:lnTo>
                  <a:pt x="42808" y="15715"/>
                </a:lnTo>
                <a:lnTo>
                  <a:pt x="42808" y="13735"/>
                </a:lnTo>
                <a:lnTo>
                  <a:pt x="42808" y="10803"/>
                </a:lnTo>
                <a:lnTo>
                  <a:pt x="42808" y="9249"/>
                </a:lnTo>
                <a:cubicBezTo>
                  <a:pt x="42808" y="8723"/>
                  <a:pt x="42708" y="8297"/>
                  <a:pt x="42708" y="7770"/>
                </a:cubicBezTo>
                <a:cubicBezTo>
                  <a:pt x="42407" y="6642"/>
                  <a:pt x="41981" y="5590"/>
                  <a:pt x="41354" y="4637"/>
                </a:cubicBezTo>
                <a:cubicBezTo>
                  <a:pt x="40001" y="2657"/>
                  <a:pt x="37921" y="1204"/>
                  <a:pt x="35615" y="678"/>
                </a:cubicBezTo>
                <a:cubicBezTo>
                  <a:pt x="35189" y="678"/>
                  <a:pt x="34888" y="678"/>
                  <a:pt x="34562" y="577"/>
                </a:cubicBezTo>
                <a:lnTo>
                  <a:pt x="29775" y="577"/>
                </a:lnTo>
                <a:lnTo>
                  <a:pt x="22557" y="477"/>
                </a:lnTo>
                <a:lnTo>
                  <a:pt x="15991" y="477"/>
                </a:lnTo>
                <a:cubicBezTo>
                  <a:pt x="14838" y="477"/>
                  <a:pt x="13685" y="377"/>
                  <a:pt x="12432" y="377"/>
                </a:cubicBezTo>
                <a:cubicBezTo>
                  <a:pt x="11866" y="405"/>
                  <a:pt x="11290" y="418"/>
                  <a:pt x="10707" y="418"/>
                </a:cubicBezTo>
                <a:cubicBezTo>
                  <a:pt x="9251" y="418"/>
                  <a:pt x="7752" y="341"/>
                  <a:pt x="6266" y="251"/>
                </a:cubicBezTo>
                <a:cubicBezTo>
                  <a:pt x="5840" y="251"/>
                  <a:pt x="5439" y="251"/>
                  <a:pt x="5013" y="151"/>
                </a:cubicBezTo>
                <a:cubicBezTo>
                  <a:pt x="4336" y="51"/>
                  <a:pt x="3635" y="1"/>
                  <a:pt x="2917" y="1"/>
                </a:cubicBezTo>
                <a:close/>
              </a:path>
            </a:pathLst>
          </a:custGeom>
          <a:solidFill>
            <a:srgbClr val="0309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5045089" y="2991383"/>
            <a:ext cx="2105969" cy="2098168"/>
          </a:xfrm>
          <a:custGeom>
            <a:avLst/>
            <a:gdLst/>
            <a:ahLst/>
            <a:cxnLst/>
            <a:rect l="l" t="t" r="r" b="b"/>
            <a:pathLst>
              <a:path w="78021" h="77732" extrusionOk="0">
                <a:moveTo>
                  <a:pt x="7218" y="0"/>
                </a:moveTo>
                <a:cubicBezTo>
                  <a:pt x="6792" y="126"/>
                  <a:pt x="6391" y="226"/>
                  <a:pt x="6065" y="326"/>
                </a:cubicBezTo>
                <a:cubicBezTo>
                  <a:pt x="5639" y="427"/>
                  <a:pt x="5238" y="627"/>
                  <a:pt x="4912" y="853"/>
                </a:cubicBezTo>
                <a:cubicBezTo>
                  <a:pt x="4286" y="1153"/>
                  <a:pt x="3760" y="1479"/>
                  <a:pt x="3258" y="1880"/>
                </a:cubicBezTo>
                <a:cubicBezTo>
                  <a:pt x="2832" y="2306"/>
                  <a:pt x="2306" y="2833"/>
                  <a:pt x="1880" y="3359"/>
                </a:cubicBezTo>
                <a:cubicBezTo>
                  <a:pt x="1153" y="4386"/>
                  <a:pt x="526" y="5640"/>
                  <a:pt x="326" y="6893"/>
                </a:cubicBezTo>
                <a:cubicBezTo>
                  <a:pt x="0" y="7845"/>
                  <a:pt x="0" y="8772"/>
                  <a:pt x="0" y="9725"/>
                </a:cubicBezTo>
                <a:lnTo>
                  <a:pt x="0" y="12532"/>
                </a:lnTo>
                <a:lnTo>
                  <a:pt x="0" y="18071"/>
                </a:lnTo>
                <a:lnTo>
                  <a:pt x="0" y="29249"/>
                </a:lnTo>
                <a:lnTo>
                  <a:pt x="0" y="41580"/>
                </a:lnTo>
                <a:cubicBezTo>
                  <a:pt x="125" y="50251"/>
                  <a:pt x="125" y="58898"/>
                  <a:pt x="125" y="67570"/>
                </a:cubicBezTo>
                <a:cubicBezTo>
                  <a:pt x="125" y="68196"/>
                  <a:pt x="125" y="68823"/>
                  <a:pt x="226" y="69449"/>
                </a:cubicBezTo>
                <a:cubicBezTo>
                  <a:pt x="226" y="69876"/>
                  <a:pt x="326" y="70176"/>
                  <a:pt x="326" y="70502"/>
                </a:cubicBezTo>
                <a:cubicBezTo>
                  <a:pt x="426" y="70602"/>
                  <a:pt x="426" y="70803"/>
                  <a:pt x="526" y="70928"/>
                </a:cubicBezTo>
                <a:lnTo>
                  <a:pt x="627" y="71429"/>
                </a:lnTo>
                <a:cubicBezTo>
                  <a:pt x="1679" y="74362"/>
                  <a:pt x="4286" y="76668"/>
                  <a:pt x="7419" y="77194"/>
                </a:cubicBezTo>
                <a:cubicBezTo>
                  <a:pt x="7644" y="77194"/>
                  <a:pt x="7745" y="77294"/>
                  <a:pt x="7945" y="77294"/>
                </a:cubicBezTo>
                <a:lnTo>
                  <a:pt x="9725" y="77294"/>
                </a:lnTo>
                <a:lnTo>
                  <a:pt x="11905" y="77394"/>
                </a:lnTo>
                <a:lnTo>
                  <a:pt x="16416" y="77394"/>
                </a:lnTo>
                <a:lnTo>
                  <a:pt x="43459" y="77595"/>
                </a:lnTo>
                <a:lnTo>
                  <a:pt x="67996" y="77695"/>
                </a:lnTo>
                <a:lnTo>
                  <a:pt x="68096" y="77695"/>
                </a:lnTo>
                <a:cubicBezTo>
                  <a:pt x="68343" y="77719"/>
                  <a:pt x="68590" y="77731"/>
                  <a:pt x="68836" y="77731"/>
                </a:cubicBezTo>
                <a:cubicBezTo>
                  <a:pt x="70885" y="77731"/>
                  <a:pt x="72873" y="76913"/>
                  <a:pt x="74462" y="75615"/>
                </a:cubicBezTo>
                <a:cubicBezTo>
                  <a:pt x="76241" y="74161"/>
                  <a:pt x="77394" y="72056"/>
                  <a:pt x="77595" y="69775"/>
                </a:cubicBezTo>
                <a:cubicBezTo>
                  <a:pt x="77595" y="61931"/>
                  <a:pt x="77695" y="54211"/>
                  <a:pt x="77695" y="46492"/>
                </a:cubicBezTo>
                <a:cubicBezTo>
                  <a:pt x="77695" y="44913"/>
                  <a:pt x="77695" y="43234"/>
                  <a:pt x="77820" y="41880"/>
                </a:cubicBezTo>
                <a:cubicBezTo>
                  <a:pt x="78021" y="36467"/>
                  <a:pt x="78021" y="31128"/>
                  <a:pt x="77820" y="25690"/>
                </a:cubicBezTo>
                <a:lnTo>
                  <a:pt x="77820" y="25289"/>
                </a:lnTo>
                <a:cubicBezTo>
                  <a:pt x="77820" y="24136"/>
                  <a:pt x="77695" y="23083"/>
                  <a:pt x="77595" y="22983"/>
                </a:cubicBezTo>
                <a:cubicBezTo>
                  <a:pt x="77578" y="22949"/>
                  <a:pt x="77561" y="22933"/>
                  <a:pt x="77544" y="22933"/>
                </a:cubicBezTo>
                <a:cubicBezTo>
                  <a:pt x="77461" y="22933"/>
                  <a:pt x="77377" y="23343"/>
                  <a:pt x="77294" y="24136"/>
                </a:cubicBezTo>
                <a:cubicBezTo>
                  <a:pt x="77194" y="25489"/>
                  <a:pt x="77068" y="26843"/>
                  <a:pt x="77068" y="28321"/>
                </a:cubicBezTo>
                <a:cubicBezTo>
                  <a:pt x="76868" y="33008"/>
                  <a:pt x="76868" y="37920"/>
                  <a:pt x="76768" y="43660"/>
                </a:cubicBezTo>
                <a:lnTo>
                  <a:pt x="76768" y="57344"/>
                </a:lnTo>
                <a:lnTo>
                  <a:pt x="76768" y="63510"/>
                </a:lnTo>
                <a:cubicBezTo>
                  <a:pt x="76768" y="64537"/>
                  <a:pt x="76768" y="65590"/>
                  <a:pt x="76868" y="66642"/>
                </a:cubicBezTo>
                <a:cubicBezTo>
                  <a:pt x="76768" y="67570"/>
                  <a:pt x="76868" y="68723"/>
                  <a:pt x="76768" y="69675"/>
                </a:cubicBezTo>
                <a:cubicBezTo>
                  <a:pt x="76567" y="71555"/>
                  <a:pt x="75715" y="73434"/>
                  <a:pt x="74261" y="74688"/>
                </a:cubicBezTo>
                <a:cubicBezTo>
                  <a:pt x="72908" y="76041"/>
                  <a:pt x="71028" y="76868"/>
                  <a:pt x="69048" y="76968"/>
                </a:cubicBezTo>
                <a:lnTo>
                  <a:pt x="67996" y="76968"/>
                </a:lnTo>
                <a:lnTo>
                  <a:pt x="60577" y="76868"/>
                </a:lnTo>
                <a:cubicBezTo>
                  <a:pt x="51905" y="76868"/>
                  <a:pt x="43133" y="76768"/>
                  <a:pt x="34462" y="76768"/>
                </a:cubicBezTo>
                <a:lnTo>
                  <a:pt x="8998" y="76768"/>
                </a:lnTo>
                <a:cubicBezTo>
                  <a:pt x="6792" y="76768"/>
                  <a:pt x="4712" y="75815"/>
                  <a:pt x="3133" y="74362"/>
                </a:cubicBezTo>
                <a:cubicBezTo>
                  <a:pt x="1679" y="72808"/>
                  <a:pt x="752" y="70703"/>
                  <a:pt x="627" y="68622"/>
                </a:cubicBezTo>
                <a:cubicBezTo>
                  <a:pt x="627" y="58798"/>
                  <a:pt x="526" y="49098"/>
                  <a:pt x="526" y="39274"/>
                </a:cubicBezTo>
                <a:cubicBezTo>
                  <a:pt x="526" y="35615"/>
                  <a:pt x="526" y="31956"/>
                  <a:pt x="426" y="28422"/>
                </a:cubicBezTo>
                <a:cubicBezTo>
                  <a:pt x="426" y="21730"/>
                  <a:pt x="426" y="15163"/>
                  <a:pt x="326" y="8472"/>
                </a:cubicBezTo>
                <a:cubicBezTo>
                  <a:pt x="426" y="6792"/>
                  <a:pt x="953" y="5239"/>
                  <a:pt x="1880" y="3760"/>
                </a:cubicBezTo>
                <a:cubicBezTo>
                  <a:pt x="2832" y="2406"/>
                  <a:pt x="4186" y="1379"/>
                  <a:pt x="5765" y="627"/>
                </a:cubicBezTo>
                <a:cubicBezTo>
                  <a:pt x="6065" y="527"/>
                  <a:pt x="6266" y="427"/>
                  <a:pt x="6592" y="326"/>
                </a:cubicBezTo>
                <a:cubicBezTo>
                  <a:pt x="6792" y="226"/>
                  <a:pt x="7118" y="226"/>
                  <a:pt x="7419" y="126"/>
                </a:cubicBezTo>
                <a:cubicBezTo>
                  <a:pt x="7519" y="126"/>
                  <a:pt x="7644" y="0"/>
                  <a:pt x="7519" y="0"/>
                </a:cubicBezTo>
                <a:close/>
              </a:path>
            </a:pathLst>
          </a:custGeom>
          <a:solidFill>
            <a:srgbClr val="0309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1630319" y="2280471"/>
            <a:ext cx="2000175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 ID</a:t>
            </a:r>
            <a:r>
              <a:rPr lang="vi-V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Mã </a:t>
            </a:r>
            <a:r>
              <a:rPr lang="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ịnh danh ứng dụng trong hệ thống Agora.</a:t>
            </a:r>
            <a:endParaRPr lang="en-US" alt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8184515" y="1845310"/>
            <a:ext cx="2548255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Channel ID</a:t>
            </a:r>
            <a:r>
              <a:rPr lang="vi-V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Mã </a:t>
            </a:r>
            <a:r>
              <a:rPr lang="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ịnh danh kênh giao tiếp, giúp ng</a:t>
            </a:r>
            <a:r>
              <a:rPr lang="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ời dùng tham gia cùng một phòng gọi.</a:t>
            </a:r>
            <a:endParaRPr lang="en-US" alt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0" name="Google Shape;470;p8"/>
          <p:cNvSpPr txBox="1"/>
          <p:nvPr/>
        </p:nvSpPr>
        <p:spPr>
          <a:xfrm>
            <a:off x="1559560" y="4790440"/>
            <a:ext cx="2329180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UID (User ID)</a:t>
            </a:r>
            <a:r>
              <a:rPr lang="vi-V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Mã </a:t>
            </a:r>
            <a:r>
              <a:rPr lang="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ịnh danh của mỗi ng</a:t>
            </a:r>
            <a:r>
              <a:rPr lang="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ời tham gia trong một kênh Agora.</a:t>
            </a:r>
            <a:endParaRPr lang="en-US" alt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1" name="Google Shape;471;p8"/>
          <p:cNvSpPr txBox="1"/>
          <p:nvPr/>
        </p:nvSpPr>
        <p:spPr>
          <a:xfrm>
            <a:off x="8627110" y="4267835"/>
            <a:ext cx="2296160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RTC Token</a:t>
            </a:r>
            <a:r>
              <a:rPr lang="vi-V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Mã xác thực quyền truy cập kênh, có thời hạn sử dụng.</a:t>
            </a:r>
            <a:endParaRPr lang="en-US" alt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72" name="Google Shape;472;p8" descr="Transfer files by Freepik Stories #svg #png #illustration#data #connection  #server #file #backup #dire… | Flat illustration, Illustration, Instagram  highlight icons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57319" y="2054892"/>
            <a:ext cx="3196112" cy="354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35915" y="1196975"/>
            <a:ext cx="48558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Thành phần quan trọng của Agora:</a:t>
            </a:r>
            <a:endParaRPr lang="vi-VN" altLang="en-US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5735955" y="25400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Kiến trúc và nguyên lý hoạt động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8" name="Google Shape;628;p13"/>
          <p:cNvCxnSpPr/>
          <p:nvPr/>
        </p:nvCxnSpPr>
        <p:spPr>
          <a:xfrm>
            <a:off x="1418690" y="3654057"/>
            <a:ext cx="10043885" cy="0"/>
          </a:xfrm>
          <a:prstGeom prst="straightConnector1">
            <a:avLst/>
          </a:prstGeom>
          <a:noFill/>
          <a:ln w="28575" cap="flat" cmpd="sng">
            <a:solidFill>
              <a:srgbClr val="3F3F3F"/>
            </a:solidFill>
            <a:prstDash val="solid"/>
            <a:miter lim="800000"/>
            <a:headEnd type="none" w="sm" len="sm"/>
            <a:tailEnd type="stealth" w="lg" len="lg"/>
          </a:ln>
        </p:spPr>
      </p:cxnSp>
      <p:grpSp>
        <p:nvGrpSpPr>
          <p:cNvPr id="629" name="Google Shape;629;p13"/>
          <p:cNvGrpSpPr/>
          <p:nvPr/>
        </p:nvGrpSpPr>
        <p:grpSpPr>
          <a:xfrm>
            <a:off x="2540280" y="1621255"/>
            <a:ext cx="2540635" cy="1182370"/>
            <a:chOff x="1455420" y="1386840"/>
            <a:chExt cx="2540635" cy="1182370"/>
          </a:xfrm>
        </p:grpSpPr>
        <p:sp>
          <p:nvSpPr>
            <p:cNvPr id="630" name="Google Shape;630;p13"/>
            <p:cNvSpPr txBox="1"/>
            <p:nvPr/>
          </p:nvSpPr>
          <p:spPr>
            <a:xfrm>
              <a:off x="1455420" y="1386840"/>
              <a:ext cx="2540635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Khởi tạo RTC Engine:</a:t>
              </a:r>
              <a:endParaRPr lang="en-US" altLang="en-US" sz="14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1666876" y="1704340"/>
              <a:ext cx="1757347" cy="864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Thiết lập Agora RTC SDK thông qua App ID.</a:t>
              </a:r>
              <a:endParaRPr lang="en-US" alt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32" name="Google Shape;632;p13"/>
          <p:cNvGrpSpPr/>
          <p:nvPr/>
        </p:nvGrpSpPr>
        <p:grpSpPr>
          <a:xfrm>
            <a:off x="5388709" y="1308835"/>
            <a:ext cx="2263775" cy="1113155"/>
            <a:chOff x="4579620" y="1074420"/>
            <a:chExt cx="2263775" cy="1113155"/>
          </a:xfrm>
        </p:grpSpPr>
        <p:sp>
          <p:nvSpPr>
            <p:cNvPr id="633" name="Google Shape;633;p13"/>
            <p:cNvSpPr txBox="1"/>
            <p:nvPr/>
          </p:nvSpPr>
          <p:spPr>
            <a:xfrm>
              <a:off x="4579620" y="1074420"/>
              <a:ext cx="2256155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b="1">
                  <a:solidFill>
                    <a:srgbClr val="3F3F3F"/>
                  </a:solidFill>
                  <a:sym typeface="Arial" panose="020B0604020202020204"/>
                </a:rPr>
                <a:t>Cấu hình cuộc gọi:</a:t>
              </a:r>
              <a:endParaRPr lang="en-US" altLang="en-US" sz="14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4" name="Google Shape;634;p13"/>
            <p:cNvSpPr txBox="1"/>
            <p:nvPr/>
          </p:nvSpPr>
          <p:spPr>
            <a:xfrm>
              <a:off x="4711065" y="1322705"/>
              <a:ext cx="2132330" cy="864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Thiết lập chế </a:t>
              </a:r>
              <a:r>
                <a:rPr lang="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đ</a:t>
              </a: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ộ truyền âm thanh, video và các thông số cần thiết.</a:t>
              </a:r>
              <a:endParaRPr lang="en-US" alt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35" name="Google Shape;635;p13"/>
          <p:cNvGrpSpPr/>
          <p:nvPr/>
        </p:nvGrpSpPr>
        <p:grpSpPr>
          <a:xfrm>
            <a:off x="8389539" y="1657351"/>
            <a:ext cx="2410460" cy="1404719"/>
            <a:chOff x="8407763" y="1422936"/>
            <a:chExt cx="2410460" cy="1404719"/>
          </a:xfrm>
        </p:grpSpPr>
        <p:sp>
          <p:nvSpPr>
            <p:cNvPr id="636" name="Google Shape;636;p13"/>
            <p:cNvSpPr txBox="1"/>
            <p:nvPr/>
          </p:nvSpPr>
          <p:spPr>
            <a:xfrm>
              <a:off x="8407763" y="1422936"/>
              <a:ext cx="2410460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Thiết lập kết nối</a:t>
              </a:r>
              <a:endParaRPr lang="en-US" altLang="en-US" sz="14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7" name="Google Shape;637;p13"/>
            <p:cNvSpPr txBox="1"/>
            <p:nvPr/>
          </p:nvSpPr>
          <p:spPr>
            <a:xfrm>
              <a:off x="8490947" y="1704340"/>
              <a:ext cx="1941830" cy="112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SDK xử l</a:t>
              </a:r>
              <a:r>
                <a:rPr lang="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ý </a:t>
              </a: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kết nối, gửi và nhận luồng âm thanh/video giữa các thiết bị.</a:t>
              </a:r>
              <a:endParaRPr lang="en-US" alt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38" name="Google Shape;638;p13"/>
          <p:cNvGrpSpPr/>
          <p:nvPr/>
        </p:nvGrpSpPr>
        <p:grpSpPr>
          <a:xfrm>
            <a:off x="3370460" y="4734025"/>
            <a:ext cx="1885315" cy="1145708"/>
            <a:chOff x="2285599" y="4829810"/>
            <a:chExt cx="1885315" cy="1145707"/>
          </a:xfrm>
        </p:grpSpPr>
        <p:sp>
          <p:nvSpPr>
            <p:cNvPr id="639" name="Google Shape;639;p13"/>
            <p:cNvSpPr txBox="1"/>
            <p:nvPr/>
          </p:nvSpPr>
          <p:spPr>
            <a:xfrm>
              <a:off x="2285599" y="5670082"/>
              <a:ext cx="1854601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Cấp quyền thiết bị</a:t>
              </a:r>
              <a:endParaRPr lang="en-US" altLang="en-US" sz="14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0" name="Google Shape;640;p13"/>
            <p:cNvSpPr txBox="1"/>
            <p:nvPr/>
          </p:nvSpPr>
          <p:spPr>
            <a:xfrm>
              <a:off x="2375134" y="4829810"/>
              <a:ext cx="1795780" cy="841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Cho phép ứng dụng truy cập camera và microphone.</a:t>
              </a:r>
              <a:endParaRPr lang="en-US" alt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41" name="Google Shape;641;p13"/>
          <p:cNvGrpSpPr/>
          <p:nvPr/>
        </p:nvGrpSpPr>
        <p:grpSpPr>
          <a:xfrm>
            <a:off x="6578116" y="4725905"/>
            <a:ext cx="2260600" cy="1262380"/>
            <a:chOff x="5769027" y="4821688"/>
            <a:chExt cx="2260600" cy="1262379"/>
          </a:xfrm>
        </p:grpSpPr>
        <p:sp>
          <p:nvSpPr>
            <p:cNvPr id="642" name="Google Shape;642;p13"/>
            <p:cNvSpPr txBox="1"/>
            <p:nvPr/>
          </p:nvSpPr>
          <p:spPr>
            <a:xfrm>
              <a:off x="5769027" y="5778632"/>
              <a:ext cx="2260600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Tham gia RTC Channel:</a:t>
              </a:r>
              <a:endParaRPr lang="en-US" altLang="en-US" sz="14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3" name="Google Shape;643;p13"/>
            <p:cNvSpPr txBox="1"/>
            <p:nvPr/>
          </p:nvSpPr>
          <p:spPr>
            <a:xfrm>
              <a:off x="5885432" y="4821688"/>
              <a:ext cx="1941829" cy="8648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Sử dụng Channel ID, UID và RTC Token hợp lệ khi cần.</a:t>
              </a:r>
              <a:endParaRPr lang="en-US" alt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44" name="Google Shape;644;p13"/>
          <p:cNvGrpSpPr/>
          <p:nvPr/>
        </p:nvGrpSpPr>
        <p:grpSpPr>
          <a:xfrm>
            <a:off x="10106739" y="4149233"/>
            <a:ext cx="2054501" cy="1423872"/>
            <a:chOff x="9848828" y="4245017"/>
            <a:chExt cx="1462133" cy="1423871"/>
          </a:xfrm>
        </p:grpSpPr>
        <p:sp>
          <p:nvSpPr>
            <p:cNvPr id="645" name="Google Shape;645;p13"/>
            <p:cNvSpPr txBox="1"/>
            <p:nvPr/>
          </p:nvSpPr>
          <p:spPr>
            <a:xfrm>
              <a:off x="9849260" y="5363453"/>
              <a:ext cx="1461701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00" b="1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Kết thúc cuộc gọi:</a:t>
              </a:r>
              <a:endParaRPr lang="en-US" altLang="en-US" sz="1400" b="1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6" name="Google Shape;646;p13"/>
            <p:cNvSpPr txBox="1"/>
            <p:nvPr/>
          </p:nvSpPr>
          <p:spPr>
            <a:xfrm>
              <a:off x="9848828" y="4245017"/>
              <a:ext cx="1303584" cy="1123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Rời khỏi kênh và giải phóng các tài nguyên không còn sử dụng.</a:t>
              </a:r>
              <a:endParaRPr lang="en-US" altLang="en-US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647" name="Google Shape;647;p13"/>
          <p:cNvCxnSpPr/>
          <p:nvPr/>
        </p:nvCxnSpPr>
        <p:spPr>
          <a:xfrm rot="10800000" flipH="1">
            <a:off x="2204883" y="3203040"/>
            <a:ext cx="1504" cy="520533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8" name="Google Shape;648;p13"/>
          <p:cNvSpPr/>
          <p:nvPr/>
        </p:nvSpPr>
        <p:spPr>
          <a:xfrm>
            <a:off x="2197781" y="1860013"/>
            <a:ext cx="323851" cy="612771"/>
          </a:xfrm>
          <a:custGeom>
            <a:avLst/>
            <a:gdLst/>
            <a:ahLst/>
            <a:cxnLst/>
            <a:rect l="l" t="t" r="r" b="b"/>
            <a:pathLst>
              <a:path w="323851" h="612771" extrusionOk="0">
                <a:moveTo>
                  <a:pt x="0" y="612771"/>
                </a:moveTo>
                <a:lnTo>
                  <a:pt x="0" y="244479"/>
                </a:lnTo>
                <a:cubicBezTo>
                  <a:pt x="0" y="109457"/>
                  <a:pt x="109457" y="0"/>
                  <a:pt x="244479" y="0"/>
                </a:cubicBezTo>
                <a:lnTo>
                  <a:pt x="323851" y="795"/>
                </a:lnTo>
              </a:path>
            </a:pathLst>
          </a:cu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9" name="Google Shape;649;p13"/>
          <p:cNvSpPr/>
          <p:nvPr/>
        </p:nvSpPr>
        <p:spPr>
          <a:xfrm>
            <a:off x="1764309" y="2317213"/>
            <a:ext cx="882651" cy="882651"/>
          </a:xfrm>
          <a:prstGeom prst="ellipse">
            <a:avLst/>
          </a:prstGeom>
          <a:solidFill>
            <a:srgbClr val="0848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50" name="Google Shape;650;p13"/>
          <p:cNvCxnSpPr/>
          <p:nvPr/>
        </p:nvCxnSpPr>
        <p:spPr>
          <a:xfrm rot="10800000">
            <a:off x="5054063" y="2884746"/>
            <a:ext cx="0" cy="838828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1" name="Google Shape;651;p13"/>
          <p:cNvSpPr/>
          <p:nvPr/>
        </p:nvSpPr>
        <p:spPr>
          <a:xfrm>
            <a:off x="4612737" y="2004793"/>
            <a:ext cx="882651" cy="882651"/>
          </a:xfrm>
          <a:prstGeom prst="ellipse">
            <a:avLst/>
          </a:prstGeom>
          <a:solidFill>
            <a:srgbClr val="FFA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52" name="Google Shape;652;p13"/>
          <p:cNvCxnSpPr/>
          <p:nvPr/>
        </p:nvCxnSpPr>
        <p:spPr>
          <a:xfrm rot="10800000" flipH="1">
            <a:off x="8054141" y="3203040"/>
            <a:ext cx="1504" cy="520533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3" name="Google Shape;653;p13"/>
          <p:cNvSpPr/>
          <p:nvPr/>
        </p:nvSpPr>
        <p:spPr>
          <a:xfrm>
            <a:off x="8047040" y="1860013"/>
            <a:ext cx="323851" cy="612771"/>
          </a:xfrm>
          <a:custGeom>
            <a:avLst/>
            <a:gdLst/>
            <a:ahLst/>
            <a:cxnLst/>
            <a:rect l="l" t="t" r="r" b="b"/>
            <a:pathLst>
              <a:path w="323851" h="612771" extrusionOk="0">
                <a:moveTo>
                  <a:pt x="0" y="612771"/>
                </a:moveTo>
                <a:lnTo>
                  <a:pt x="0" y="244479"/>
                </a:lnTo>
                <a:cubicBezTo>
                  <a:pt x="0" y="109457"/>
                  <a:pt x="109457" y="0"/>
                  <a:pt x="244479" y="0"/>
                </a:cubicBezTo>
                <a:lnTo>
                  <a:pt x="323851" y="795"/>
                </a:lnTo>
              </a:path>
            </a:pathLst>
          </a:cu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7613568" y="2317213"/>
            <a:ext cx="882651" cy="882651"/>
          </a:xfrm>
          <a:prstGeom prst="ellipse">
            <a:avLst/>
          </a:prstGeom>
          <a:solidFill>
            <a:srgbClr val="0848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05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55" name="Google Shape;655;p13"/>
          <p:cNvCxnSpPr/>
          <p:nvPr/>
        </p:nvCxnSpPr>
        <p:spPr>
          <a:xfrm rot="10800000">
            <a:off x="3005735" y="3627697"/>
            <a:ext cx="0" cy="698499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6" name="Google Shape;656;p13"/>
          <p:cNvSpPr/>
          <p:nvPr/>
        </p:nvSpPr>
        <p:spPr>
          <a:xfrm rot="10800000" flipH="1">
            <a:off x="2987319" y="5200113"/>
            <a:ext cx="320040" cy="612771"/>
          </a:xfrm>
          <a:custGeom>
            <a:avLst/>
            <a:gdLst/>
            <a:ahLst/>
            <a:cxnLst/>
            <a:rect l="l" t="t" r="r" b="b"/>
            <a:pathLst>
              <a:path w="323851" h="612771" extrusionOk="0">
                <a:moveTo>
                  <a:pt x="0" y="612771"/>
                </a:moveTo>
                <a:lnTo>
                  <a:pt x="0" y="244479"/>
                </a:lnTo>
                <a:cubicBezTo>
                  <a:pt x="0" y="109457"/>
                  <a:pt x="109457" y="0"/>
                  <a:pt x="244479" y="0"/>
                </a:cubicBezTo>
                <a:lnTo>
                  <a:pt x="323851" y="795"/>
                </a:lnTo>
              </a:path>
            </a:pathLst>
          </a:cu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7" name="Google Shape;657;p13"/>
          <p:cNvSpPr/>
          <p:nvPr/>
        </p:nvSpPr>
        <p:spPr>
          <a:xfrm>
            <a:off x="2564409" y="4323813"/>
            <a:ext cx="882651" cy="882651"/>
          </a:xfrm>
          <a:prstGeom prst="ellipse">
            <a:avLst/>
          </a:prstGeom>
          <a:solidFill>
            <a:srgbClr val="FFA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58" name="Google Shape;658;p13"/>
          <p:cNvCxnSpPr/>
          <p:nvPr/>
        </p:nvCxnSpPr>
        <p:spPr>
          <a:xfrm rot="10800000">
            <a:off x="6213391" y="3639603"/>
            <a:ext cx="0" cy="867567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9" name="Google Shape;659;p13"/>
          <p:cNvSpPr/>
          <p:nvPr/>
        </p:nvSpPr>
        <p:spPr>
          <a:xfrm rot="10800000" flipH="1">
            <a:off x="6194975" y="5308397"/>
            <a:ext cx="320040" cy="612771"/>
          </a:xfrm>
          <a:custGeom>
            <a:avLst/>
            <a:gdLst/>
            <a:ahLst/>
            <a:cxnLst/>
            <a:rect l="l" t="t" r="r" b="b"/>
            <a:pathLst>
              <a:path w="323851" h="612771" extrusionOk="0">
                <a:moveTo>
                  <a:pt x="0" y="612771"/>
                </a:moveTo>
                <a:lnTo>
                  <a:pt x="0" y="244479"/>
                </a:lnTo>
                <a:cubicBezTo>
                  <a:pt x="0" y="109457"/>
                  <a:pt x="109457" y="0"/>
                  <a:pt x="244479" y="0"/>
                </a:cubicBezTo>
                <a:lnTo>
                  <a:pt x="323851" y="795"/>
                </a:lnTo>
              </a:path>
            </a:pathLst>
          </a:cu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5772065" y="4504287"/>
            <a:ext cx="882651" cy="882651"/>
          </a:xfrm>
          <a:prstGeom prst="ellipse">
            <a:avLst/>
          </a:prstGeom>
          <a:solidFill>
            <a:srgbClr val="0848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61" name="Google Shape;661;p13"/>
          <p:cNvCxnSpPr/>
          <p:nvPr/>
        </p:nvCxnSpPr>
        <p:spPr>
          <a:xfrm rot="10800000">
            <a:off x="9609735" y="3627697"/>
            <a:ext cx="0" cy="407192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2" name="Google Shape;662;p13"/>
          <p:cNvSpPr/>
          <p:nvPr/>
        </p:nvSpPr>
        <p:spPr>
          <a:xfrm rot="10800000" flipH="1">
            <a:off x="9591319" y="4905515"/>
            <a:ext cx="320040" cy="612771"/>
          </a:xfrm>
          <a:custGeom>
            <a:avLst/>
            <a:gdLst/>
            <a:ahLst/>
            <a:cxnLst/>
            <a:rect l="l" t="t" r="r" b="b"/>
            <a:pathLst>
              <a:path w="323851" h="612771" extrusionOk="0">
                <a:moveTo>
                  <a:pt x="0" y="612771"/>
                </a:moveTo>
                <a:lnTo>
                  <a:pt x="0" y="244479"/>
                </a:lnTo>
                <a:cubicBezTo>
                  <a:pt x="0" y="109457"/>
                  <a:pt x="109457" y="0"/>
                  <a:pt x="244479" y="0"/>
                </a:cubicBezTo>
                <a:lnTo>
                  <a:pt x="323851" y="795"/>
                </a:lnTo>
              </a:path>
            </a:pathLst>
          </a:cu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9168409" y="4029216"/>
            <a:ext cx="882651" cy="882651"/>
          </a:xfrm>
          <a:prstGeom prst="ellipse">
            <a:avLst/>
          </a:prstGeom>
          <a:solidFill>
            <a:srgbClr val="FFA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06</a:t>
            </a: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41910" y="2739390"/>
            <a:ext cx="1435100" cy="142621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000">
                <a:solidFill>
                  <a:schemeClr val="bg1"/>
                </a:solidFill>
                <a:sym typeface="+mn-ea"/>
              </a:rPr>
              <a:t>Quy trình thực hiện cuộc gọi:</a:t>
            </a:r>
            <a:endParaRPr lang="vi-VN" altLang="en-US" sz="200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vi-VN" altLang="en-US" sz="2000" b="1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2091335" y="3545772"/>
            <a:ext cx="228600" cy="2286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4939763" y="3545772"/>
            <a:ext cx="228600" cy="2286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7940592" y="3545772"/>
            <a:ext cx="228600" cy="2286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2891435" y="3545772"/>
            <a:ext cx="228600" cy="2286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6099091" y="3545772"/>
            <a:ext cx="228600" cy="2286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9495435" y="3545772"/>
            <a:ext cx="228600" cy="2286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Google Shape;653;p13"/>
          <p:cNvSpPr/>
          <p:nvPr/>
        </p:nvSpPr>
        <p:spPr>
          <a:xfrm>
            <a:off x="5053650" y="1426943"/>
            <a:ext cx="323851" cy="612771"/>
          </a:xfrm>
          <a:custGeom>
            <a:avLst/>
            <a:gdLst/>
            <a:ahLst/>
            <a:cxnLst/>
            <a:rect l="l" t="t" r="r" b="b"/>
            <a:pathLst>
              <a:path w="323851" h="612771" extrusionOk="0">
                <a:moveTo>
                  <a:pt x="0" y="612771"/>
                </a:moveTo>
                <a:lnTo>
                  <a:pt x="0" y="244479"/>
                </a:lnTo>
                <a:cubicBezTo>
                  <a:pt x="0" y="109457"/>
                  <a:pt x="109457" y="0"/>
                  <a:pt x="244479" y="0"/>
                </a:cubicBezTo>
                <a:lnTo>
                  <a:pt x="323851" y="795"/>
                </a:lnTo>
              </a:path>
            </a:pathLst>
          </a:cu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5735955" y="25400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Kiến trúc và nguyên lý hoạt động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2763" y="1125220"/>
            <a:ext cx="11430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A52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</a:rPr>
              <a:t>Cơ chế truyền tải âm thanh và video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890" y="190169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36773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</a:rPr>
              <a:t>Một chiều truyền từ thiết bị A đến B (chiều ngược lại diễn ra tương tự).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" y="2350008"/>
            <a:ext cx="2103120" cy="2057400"/>
          </a:xfrm>
          <a:prstGeom prst="roundRect">
            <a:avLst/>
          </a:prstGeom>
          <a:solidFill>
            <a:srgbClr val="EB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96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8C99"/>
                </a:solidFill>
                <a:latin typeface="Arial" panose="020B0604020202020204"/>
              </a:defRPr>
            </a:pPr>
            <a:r>
              <a:rPr>
                <a:solidFill>
                  <a:srgbClr val="002060"/>
                </a:solidFill>
              </a:rPr>
              <a:t>01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216" y="294436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3A52"/>
                </a:solidFill>
                <a:latin typeface="Arial" panose="020B0604020202020204"/>
              </a:defRPr>
            </a:pPr>
            <a:r>
              <a:t>Thu nhận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675887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36773"/>
                </a:solidFill>
                <a:latin typeface="Arial" panose="020B0604020202020204"/>
              </a:defRPr>
            </a:pPr>
            <a:r>
              <a:t>Camera, micro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42032" y="3337560"/>
            <a:ext cx="228600" cy="0"/>
          </a:xfrm>
          <a:prstGeom prst="line">
            <a:avLst/>
          </a:prstGeom>
          <a:ln w="31750">
            <a:solidFill>
              <a:srgbClr val="17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98064" y="2350008"/>
            <a:ext cx="2103120" cy="2057400"/>
          </a:xfrm>
          <a:prstGeom prst="roundRect">
            <a:avLst/>
          </a:prstGeom>
          <a:solidFill>
            <a:srgbClr val="EB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2496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8C99"/>
                </a:solidFill>
                <a:latin typeface="Arial" panose="020B0604020202020204"/>
              </a:defRPr>
            </a:pPr>
            <a:r>
              <a:rPr>
                <a:solidFill>
                  <a:srgbClr val="002060"/>
                </a:solidFill>
              </a:rPr>
              <a:t>02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44368" y="294436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3A52"/>
                </a:solidFill>
                <a:latin typeface="Arial" panose="020B0604020202020204"/>
              </a:defRPr>
            </a:pPr>
            <a:r>
              <a:t>Mã hóa &amp; nén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675887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36773"/>
                </a:solidFill>
                <a:latin typeface="Arial" panose="020B0604020202020204"/>
              </a:defRPr>
            </a:pPr>
            <a:r>
              <a:t>Luồng media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01183" y="3337560"/>
            <a:ext cx="228600" cy="0"/>
          </a:xfrm>
          <a:prstGeom prst="line">
            <a:avLst/>
          </a:prstGeom>
          <a:ln w="31750">
            <a:solidFill>
              <a:srgbClr val="17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57216" y="2350008"/>
            <a:ext cx="2103120" cy="2057400"/>
          </a:xfrm>
          <a:prstGeom prst="roundRect">
            <a:avLst/>
          </a:prstGeom>
          <a:solidFill>
            <a:srgbClr val="D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496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8C99"/>
                </a:solidFill>
                <a:latin typeface="Arial" panose="020B0604020202020204"/>
              </a:defRPr>
            </a:pPr>
            <a:r>
              <a:rPr>
                <a:solidFill>
                  <a:srgbClr val="002060"/>
                </a:solidFill>
              </a:rPr>
              <a:t>03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20" y="294436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3A52"/>
                </a:solidFill>
                <a:latin typeface="Arial" panose="020B0604020202020204"/>
              </a:defRPr>
            </a:pPr>
            <a:r>
              <a:t>Truyền tải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675887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36773"/>
                </a:solidFill>
                <a:latin typeface="Arial" panose="020B0604020202020204"/>
              </a:defRPr>
            </a:pPr>
            <a:r>
              <a:t>Agora SD-RTN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60336" y="3337560"/>
            <a:ext cx="228600" cy="0"/>
          </a:xfrm>
          <a:prstGeom prst="line">
            <a:avLst/>
          </a:prstGeom>
          <a:ln w="31750">
            <a:solidFill>
              <a:srgbClr val="17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16368" y="2350008"/>
            <a:ext cx="2103120" cy="2057400"/>
          </a:xfrm>
          <a:prstGeom prst="roundRect">
            <a:avLst/>
          </a:prstGeom>
          <a:solidFill>
            <a:srgbClr val="EB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496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8C99"/>
                </a:solidFill>
                <a:latin typeface="Arial" panose="020B0604020202020204"/>
              </a:defRPr>
            </a:pPr>
            <a:r>
              <a:rPr>
                <a:solidFill>
                  <a:srgbClr val="002060"/>
                </a:solidFill>
              </a:rPr>
              <a:t>04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62672" y="294436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3A52"/>
                </a:solidFill>
                <a:latin typeface="Arial" panose="020B0604020202020204"/>
              </a:defRPr>
            </a:pPr>
            <a:r>
              <a:t>Giải mã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3675887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36773"/>
                </a:solidFill>
                <a:latin typeface="Arial" panose="020B0604020202020204"/>
              </a:defRPr>
            </a:pPr>
            <a:r>
              <a:t>Thiết bị nhận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19488" y="3337560"/>
            <a:ext cx="228600" cy="0"/>
          </a:xfrm>
          <a:prstGeom prst="line">
            <a:avLst/>
          </a:prstGeom>
          <a:ln w="31750">
            <a:solidFill>
              <a:srgbClr val="178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75520" y="2350008"/>
            <a:ext cx="2103120" cy="2057400"/>
          </a:xfrm>
          <a:prstGeom prst="roundRect">
            <a:avLst/>
          </a:prstGeom>
          <a:solidFill>
            <a:srgbClr val="EB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21824" y="2496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8C99"/>
                </a:solidFill>
                <a:latin typeface="Arial" panose="020B0604020202020204"/>
              </a:defRPr>
            </a:pPr>
            <a:r>
              <a:rPr>
                <a:solidFill>
                  <a:srgbClr val="002060"/>
                </a:solidFill>
              </a:rPr>
              <a:t>05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21824" y="294436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3A52"/>
                </a:solidFill>
                <a:latin typeface="Arial" panose="020B0604020202020204"/>
              </a:defRPr>
            </a:pPr>
            <a:r>
              <a:t>Hiển thị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3675887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36773"/>
                </a:solidFill>
                <a:latin typeface="Arial" panose="020B0604020202020204"/>
              </a:defRPr>
            </a:pPr>
            <a:r>
              <a:t>Màn hình, loa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892040"/>
            <a:ext cx="10972800" cy="932688"/>
          </a:xfrm>
          <a:prstGeom prst="roundRect">
            <a:avLst/>
          </a:prstGeom>
          <a:solidFill>
            <a:srgbClr val="F5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138928"/>
            <a:ext cx="10424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53A52"/>
                </a:solidFill>
                <a:latin typeface="Arial" panose="020B0604020202020204"/>
              </a:defRPr>
            </a:pPr>
            <a:r>
              <a:t>Dữ liệu được xử lý liên tục, giúp hai thiết bị vừa gửi vừa nhận âm thanh và hình ảnh theo thời gian thực.</a:t>
            </a:r>
          </a:p>
        </p:txBody>
      </p:sp>
      <p:sp>
        <p:nvSpPr>
          <p:cNvPr id="749" name="Google Shape;749;p16"/>
          <p:cNvSpPr/>
          <p:nvPr/>
        </p:nvSpPr>
        <p:spPr>
          <a:xfrm>
            <a:off x="5735955" y="25400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Kiến trúc và nguyên lý hoạt động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335915" y="1629410"/>
          <a:ext cx="1175194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2845"/>
                <a:gridCol w="5391785"/>
                <a:gridCol w="3917315"/>
              </a:tblGrid>
              <a:tr h="508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Thành phần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Khái niệm / Chức n</a:t>
                      </a:r>
                      <a:r>
                        <a:rPr lang="" altLang="en-US" sz="1600"/>
                        <a:t>ă</a:t>
                      </a:r>
                      <a:r>
                        <a:rPr lang="en-US" altLang="en-US" sz="1600"/>
                        <a:t>ng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Vai trò trong cuộc gọi video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Latency (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 trễ)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Thời gian dữ liệu truyền từ ng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ời gửi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ến ng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ời nhận.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 trễ thấp giúp giao tiếp tự nhiên, hạn chế phản hồi chậm.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Jitter (Dao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ộng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 trễ)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Sự biến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ộng về thời gian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ến của các gói dữ liệu.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Jitter cao có thể khiến âm thanh, video bị giật hoặc không ổn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ịnh.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Packet Loss (Mất gói)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Hiện t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ợng gói dữ liệu bị thất lạc trong quá trình truyền.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Có thể gây mất tiếng,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ứng hình hoặc giảm chất l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ợng video.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Bitrate (Tốc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 bit)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L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ợng dữ liệu truyền trong một giây.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Ảnh h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ởng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ến chất l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ợng hình ảnh và b</a:t>
                      </a:r>
                      <a:r>
                        <a:rPr lang="" altLang="en-US" sz="1600"/>
                        <a:t>ă</a:t>
                      </a:r>
                      <a:r>
                        <a:rPr lang="en-US" altLang="en-US" sz="1600"/>
                        <a:t>ng thông sử dụng.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Adaptive Bitrate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Tự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ộng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iều chỉnh bitrate theo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iều kiện mạng.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Giúp duy trì cuộc gọi khi b</a:t>
                      </a:r>
                      <a:r>
                        <a:rPr lang="" altLang="en-US" sz="1600"/>
                        <a:t>ă</a:t>
                      </a:r>
                      <a:r>
                        <a:rPr lang="en-US" altLang="en-US" sz="1600"/>
                        <a:t>ng thông thay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ổi.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Network Adaptation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Thích ứng với chất l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ợng kết nối mạng.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Hạn chế gián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oạn bằng cách </a:t>
                      </a:r>
                      <a:r>
                        <a:rPr lang="" altLang="en-US" sz="1600"/>
                        <a:t>đ</a:t>
                      </a:r>
                      <a:r>
                        <a:rPr lang="en-US" altLang="en-US" sz="1600"/>
                        <a:t>iều chỉnh chất l</a:t>
                      </a:r>
                      <a:r>
                        <a:rPr lang="" altLang="en-US" sz="1600"/>
                        <a:t>ư</a:t>
                      </a:r>
                      <a:r>
                        <a:rPr lang="en-US" altLang="en-US" sz="1600"/>
                        <a:t>ợng truyền tải.</a:t>
                      </a:r>
                      <a:endParaRPr lang="en-US" altLang="en-US" sz="1600"/>
                    </a:p>
                  </a:txBody>
                  <a:tcPr/>
                </a:tc>
              </a:tr>
              <a:tr h="508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RTC Token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Mã xác thực quyền tham gia kênh Agora.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600"/>
                        <a:t>Kiểm soát quyền truy cập, t</a:t>
                      </a:r>
                      <a:r>
                        <a:rPr lang="" altLang="en-US" sz="1600"/>
                        <a:t>ă</a:t>
                      </a:r>
                      <a:r>
                        <a:rPr lang="en-US" altLang="en-US" sz="1600"/>
                        <a:t>ng tính bảo mật cho cuộc gọi.</a:t>
                      </a:r>
                      <a:endParaRPr lang="en-US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35915" y="1125220"/>
            <a:ext cx="11966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/>
              <a:t>Các yếu tố ảnh h</a:t>
            </a:r>
            <a:r>
              <a:rPr lang="" altLang="en-US" sz="2000" b="1"/>
              <a:t>ư</a:t>
            </a:r>
            <a:r>
              <a:rPr lang="en-US" altLang="en-US" sz="2000" b="1"/>
              <a:t>ởng </a:t>
            </a:r>
            <a:r>
              <a:rPr lang="" altLang="en-US" sz="2000" b="1"/>
              <a:t>đ</a:t>
            </a:r>
            <a:r>
              <a:rPr lang="en-US" altLang="en-US" sz="2000" b="1"/>
              <a:t>ến chất l</a:t>
            </a:r>
            <a:r>
              <a:rPr lang="" altLang="en-US" sz="2000" b="1"/>
              <a:t>ư</a:t>
            </a:r>
            <a:r>
              <a:rPr lang="en-US" altLang="en-US" sz="2000" b="1"/>
              <a:t>ợng truyền tải và cơ chế bảo mật trong Agora RTC SDK</a:t>
            </a:r>
            <a:endParaRPr lang="en-US" altLang="en-US" sz="2000" b="1"/>
          </a:p>
        </p:txBody>
      </p:sp>
      <p:sp>
        <p:nvSpPr>
          <p:cNvPr id="749" name="Google Shape;749;p16"/>
          <p:cNvSpPr/>
          <p:nvPr/>
        </p:nvSpPr>
        <p:spPr>
          <a:xfrm>
            <a:off x="5735955" y="254000"/>
            <a:ext cx="6493510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2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Kiến trúc và nguyên lý hoạt động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760" y="1269365"/>
            <a:ext cx="3817620" cy="45339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6710" y="1738630"/>
            <a:ext cx="7475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Wingdings" panose="05000000000000000000" charset="0"/>
              <a:buChar char="§"/>
            </a:pPr>
            <a:r>
              <a:rPr lang="en-US" altLang="en-US" sz="1800"/>
              <a:t>Flutter (Dart)</a:t>
            </a:r>
            <a:r>
              <a:rPr lang="vi-VN" altLang="en-US" sz="1800"/>
              <a:t>: </a:t>
            </a:r>
            <a:r>
              <a:rPr lang="en-US" altLang="en-US" sz="1800"/>
              <a:t>Xây dựng giao diện gọi video và xử l</a:t>
            </a:r>
            <a:r>
              <a:rPr lang="" altLang="en-US" sz="1800"/>
              <a:t>ý </a:t>
            </a:r>
            <a:r>
              <a:rPr lang="en-US" altLang="en-US" sz="1800"/>
              <a:t>các thao tác của ng</a:t>
            </a:r>
            <a:r>
              <a:rPr lang="" altLang="en-US" sz="1800"/>
              <a:t>ư</a:t>
            </a:r>
            <a:r>
              <a:rPr lang="en-US" altLang="en-US" sz="1800"/>
              <a:t>ời dùng.</a:t>
            </a:r>
            <a:endParaRPr lang="en-US" altLang="en-US" sz="1800"/>
          </a:p>
        </p:txBody>
      </p:sp>
      <p:sp>
        <p:nvSpPr>
          <p:cNvPr id="3" name="Text Box 2"/>
          <p:cNvSpPr txBox="1"/>
          <p:nvPr/>
        </p:nvSpPr>
        <p:spPr>
          <a:xfrm>
            <a:off x="335915" y="2386330"/>
            <a:ext cx="7485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Wingdings" panose="05000000000000000000" charset="0"/>
              <a:buChar char="§"/>
            </a:pPr>
            <a:r>
              <a:rPr lang="vi-VN" altLang="en-US" sz="1800"/>
              <a:t>A</a:t>
            </a:r>
            <a:r>
              <a:rPr lang="en-US" altLang="en-US" sz="1800"/>
              <a:t>gora_rtc_engine</a:t>
            </a:r>
            <a:r>
              <a:rPr lang="vi-VN" altLang="en-US" sz="1800"/>
              <a:t>: </a:t>
            </a:r>
            <a:r>
              <a:rPr lang="en-US" altLang="en-US" sz="1800"/>
              <a:t>Plugin cung cấp API </a:t>
            </a:r>
            <a:r>
              <a:rPr lang="" altLang="en-US" sz="1800"/>
              <a:t>đ</a:t>
            </a:r>
            <a:r>
              <a:rPr lang="en-US" altLang="en-US" sz="1800"/>
              <a:t>ể ứng dụng Flutter t</a:t>
            </a:r>
            <a:r>
              <a:rPr lang="" altLang="en-US" sz="1800"/>
              <a:t>ư</a:t>
            </a:r>
            <a:r>
              <a:rPr lang="en-US" altLang="en-US" sz="1800"/>
              <a:t>ơng tác với Agora RTC SDK.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346710" y="3106420"/>
            <a:ext cx="7475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Wingdings" panose="05000000000000000000" charset="0"/>
              <a:buChar char="§"/>
            </a:pPr>
            <a:r>
              <a:rPr lang="en-US" altLang="en-US" sz="1800"/>
              <a:t>Agora Native SDK</a:t>
            </a:r>
            <a:r>
              <a:rPr lang="vi-VN" altLang="en-US" sz="1800"/>
              <a:t>: </a:t>
            </a:r>
            <a:r>
              <a:rPr lang="en-US" altLang="en-US" sz="1800"/>
              <a:t>Xử l</a:t>
            </a:r>
            <a:r>
              <a:rPr lang="" altLang="en-US" sz="1800"/>
              <a:t>ý </a:t>
            </a:r>
            <a:r>
              <a:rPr lang="en-US" altLang="en-US" sz="1800"/>
              <a:t>âm thanh, video, camera, microphone và kết nối truyền thông trên thiết bị.</a:t>
            </a:r>
            <a:endParaRPr lang="en-US" altLang="en-US" sz="1800"/>
          </a:p>
        </p:txBody>
      </p:sp>
      <p:sp>
        <p:nvSpPr>
          <p:cNvPr id="5" name="Text Box 4"/>
          <p:cNvSpPr txBox="1"/>
          <p:nvPr/>
        </p:nvSpPr>
        <p:spPr>
          <a:xfrm>
            <a:off x="335915" y="3861435"/>
            <a:ext cx="7412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Wingdings" panose="05000000000000000000" charset="0"/>
              <a:buChar char="§"/>
            </a:pPr>
            <a:r>
              <a:rPr lang="en-US" altLang="en-US" sz="1800"/>
              <a:t>Agora SD-RTN</a:t>
            </a:r>
            <a:r>
              <a:rPr lang="vi-VN" altLang="en-US" sz="1800"/>
              <a:t>: </a:t>
            </a:r>
            <a:r>
              <a:rPr lang="en-US" altLang="en-US" sz="1800"/>
              <a:t>Hạ tầng mạng hỗ trợ truyền tải âm thanh và video theo thời gian thực.</a:t>
            </a:r>
            <a:endParaRPr lang="en-US" altLang="en-US" sz="1800"/>
          </a:p>
        </p:txBody>
      </p:sp>
      <p:sp>
        <p:nvSpPr>
          <p:cNvPr id="10" name="Text Box 9"/>
          <p:cNvSpPr txBox="1"/>
          <p:nvPr/>
        </p:nvSpPr>
        <p:spPr>
          <a:xfrm>
            <a:off x="407670" y="4725670"/>
            <a:ext cx="7412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800"/>
              <a:t>- </a:t>
            </a:r>
            <a:r>
              <a:rPr lang="en-US" altLang="en-US" sz="1800"/>
              <a:t>Sơ </a:t>
            </a:r>
            <a:r>
              <a:rPr lang="" altLang="en-US" sz="1800"/>
              <a:t>đ</a:t>
            </a:r>
            <a:r>
              <a:rPr lang="en-US" altLang="en-US" sz="1800"/>
              <a:t>ồ thể hiện cách Flutter kết nối với Agora RTC SDK thông qua plugin agora_rtc_engine, giúp xử l</a:t>
            </a:r>
            <a:r>
              <a:rPr lang="" altLang="en-US" sz="1800"/>
              <a:t>ý </a:t>
            </a:r>
            <a:r>
              <a:rPr lang="en-US" altLang="en-US" sz="1800"/>
              <a:t>và truyền tải âm thanh, video theo thời gian thực qua hạ tầng Agora SD-RTN.</a:t>
            </a:r>
            <a:endParaRPr lang="en-US" altLang="en-US" sz="1800"/>
          </a:p>
        </p:txBody>
      </p:sp>
      <p:sp>
        <p:nvSpPr>
          <p:cNvPr id="11" name="Text Box 10"/>
          <p:cNvSpPr txBox="1"/>
          <p:nvPr/>
        </p:nvSpPr>
        <p:spPr>
          <a:xfrm>
            <a:off x="263525" y="1269365"/>
            <a:ext cx="5351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/>
              <a:t>Tích hợp Agora RTC SDK với Flutter</a:t>
            </a:r>
            <a:endParaRPr lang="en-US" altLang="en-US" sz="2000" b="1"/>
          </a:p>
        </p:txBody>
      </p:sp>
      <p:sp>
        <p:nvSpPr>
          <p:cNvPr id="13" name="Text Box 12"/>
          <p:cNvSpPr txBox="1"/>
          <p:nvPr/>
        </p:nvSpPr>
        <p:spPr>
          <a:xfrm>
            <a:off x="6024245" y="476885"/>
            <a:ext cx="66611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800" b="1">
                <a:solidFill>
                  <a:srgbClr val="FF0000"/>
                </a:solidFill>
              </a:rPr>
              <a:t>3.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Tích hợp và ứng dụng công nghệ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19380" y="112496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Ứng dụng Agora RTC SDK trong Flutter</a:t>
            </a:r>
            <a:endParaRPr lang="en-US" sz="28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3504" y="1622171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Ba công nghệ phối hợp để triển khai chức năng gọi thoại và gọi video.</a:t>
            </a:r>
            <a:endParaRPr lang="en-US" sz="13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3" name="Shape 8"/>
          <p:cNvSpPr/>
          <p:nvPr/>
        </p:nvSpPr>
        <p:spPr>
          <a:xfrm>
            <a:off x="659003" y="2281555"/>
            <a:ext cx="3236976" cy="1298448"/>
          </a:xfrm>
          <a:prstGeom prst="roundRect">
            <a:avLst>
              <a:gd name="adj" fmla="val 11268"/>
            </a:avLst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4" name="Text 9"/>
          <p:cNvSpPr/>
          <p:nvPr/>
        </p:nvSpPr>
        <p:spPr>
          <a:xfrm>
            <a:off x="841883" y="2491867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FLUTTER</a:t>
            </a:r>
            <a:endParaRPr lang="en-US" sz="18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10"/>
          <p:cNvSpPr/>
          <p:nvPr/>
        </p:nvSpPr>
        <p:spPr>
          <a:xfrm>
            <a:off x="787019" y="2857627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Giao diện và điều khiển</a:t>
            </a:r>
            <a:endParaRPr lang="en-US" sz="1300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11"/>
          <p:cNvSpPr/>
          <p:nvPr/>
        </p:nvSpPr>
        <p:spPr>
          <a:xfrm>
            <a:off x="750443" y="3232531"/>
            <a:ext cx="30540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Bắt đầu gọi · Micro · Camera</a:t>
            </a:r>
            <a:endParaRPr lang="en-US" sz="10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72051" y="2281555"/>
            <a:ext cx="3236976" cy="1298448"/>
          </a:xfrm>
          <a:prstGeom prst="roundRect">
            <a:avLst>
              <a:gd name="adj" fmla="val 11268"/>
            </a:avLst>
          </a:prstGeom>
          <a:solidFill>
            <a:srgbClr val="EDF5F6"/>
          </a:solidFill>
          <a:ln w="12700">
            <a:solidFill>
              <a:srgbClr val="EDF5F6"/>
            </a:solidFill>
            <a:prstDash val="solid"/>
          </a:ln>
        </p:spPr>
      </p:sp>
      <p:sp>
        <p:nvSpPr>
          <p:cNvPr id="9" name="Text 13"/>
          <p:cNvSpPr/>
          <p:nvPr/>
        </p:nvSpPr>
        <p:spPr>
          <a:xfrm>
            <a:off x="4654931" y="2491867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FIREBASE</a:t>
            </a:r>
            <a:endParaRPr lang="en-US" sz="18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00067" y="2857627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Xác thực và đồng bộ dữ liệu</a:t>
            </a:r>
            <a:endParaRPr lang="en-US" sz="1300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4563491" y="3232531"/>
            <a:ext cx="30540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Tài khoản · Lời mời · Trạng thái</a:t>
            </a:r>
            <a:endParaRPr lang="en-US" sz="10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8285099" y="2281555"/>
            <a:ext cx="3236976" cy="1298448"/>
          </a:xfrm>
          <a:prstGeom prst="roundRect">
            <a:avLst>
              <a:gd name="adj" fmla="val 11268"/>
            </a:avLst>
          </a:prstGeom>
          <a:solidFill>
            <a:srgbClr val="E7F4EF"/>
          </a:solidFill>
          <a:ln w="12700">
            <a:solidFill>
              <a:srgbClr val="E7F4EF"/>
            </a:solidFill>
            <a:prstDash val="solid"/>
          </a:ln>
        </p:spPr>
      </p:sp>
      <p:sp>
        <p:nvSpPr>
          <p:cNvPr id="43" name="Text 17"/>
          <p:cNvSpPr/>
          <p:nvPr/>
        </p:nvSpPr>
        <p:spPr>
          <a:xfrm>
            <a:off x="8467979" y="2491867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AGORA RTC</a:t>
            </a:r>
            <a:endParaRPr lang="en-US" sz="18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8413115" y="2857627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Truyền âm thanh và video</a:t>
            </a:r>
            <a:endParaRPr lang="en-US" sz="1300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376539" y="3232531"/>
            <a:ext cx="30540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RTC Channel · Media hai chiều</a:t>
            </a:r>
            <a:endParaRPr lang="en-US" sz="10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667512" y="3639312"/>
            <a:ext cx="108813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Ví dụ: Quy trình một cuộc gọi trong Messenger Call</a:t>
            </a:r>
            <a:endParaRPr lang="en-US" sz="17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649224" y="4233672"/>
            <a:ext cx="25603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48" name="Text 22"/>
          <p:cNvSpPr/>
          <p:nvPr/>
        </p:nvSpPr>
        <p:spPr>
          <a:xfrm>
            <a:off x="813816" y="4416552"/>
            <a:ext cx="3931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E8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01</a:t>
            </a:r>
            <a:endParaRPr lang="en-US" sz="1700" b="1" dirty="0">
              <a:solidFill>
                <a:srgbClr val="117E8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1261872" y="44074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Người A gọi</a:t>
            </a:r>
            <a:endParaRPr lang="en-US" sz="15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822960" y="48280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Flutter gửi yêu cầu</a:t>
            </a:r>
            <a:endParaRPr lang="en-US" sz="11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3282696" y="4636008"/>
            <a:ext cx="210312" cy="283464"/>
          </a:xfrm>
          <a:prstGeom prst="chevron">
            <a:avLst/>
          </a:prstGeom>
          <a:solidFill>
            <a:srgbClr val="117E85"/>
          </a:solidFill>
          <a:ln w="12700">
            <a:solidFill>
              <a:srgbClr val="117E85">
                <a:alpha val="0"/>
              </a:srgbClr>
            </a:solidFill>
            <a:prstDash val="solid"/>
          </a:ln>
        </p:spPr>
      </p:sp>
      <p:sp>
        <p:nvSpPr>
          <p:cNvPr id="52" name="Shape 26"/>
          <p:cNvSpPr/>
          <p:nvPr/>
        </p:nvSpPr>
        <p:spPr>
          <a:xfrm>
            <a:off x="3529584" y="4233672"/>
            <a:ext cx="25603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53" name="Text 27"/>
          <p:cNvSpPr/>
          <p:nvPr/>
        </p:nvSpPr>
        <p:spPr>
          <a:xfrm>
            <a:off x="3694176" y="4416552"/>
            <a:ext cx="3931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E8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02</a:t>
            </a:r>
            <a:endParaRPr lang="en-US" sz="1700" b="1" dirty="0">
              <a:solidFill>
                <a:srgbClr val="117E8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4142232" y="44074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Firebase</a:t>
            </a:r>
            <a:endParaRPr lang="en-US" sz="15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3703320" y="48280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Đồng bộ lời mời</a:t>
            </a:r>
            <a:endParaRPr lang="en-US" sz="11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56" name="Shape 30"/>
          <p:cNvSpPr/>
          <p:nvPr/>
        </p:nvSpPr>
        <p:spPr>
          <a:xfrm>
            <a:off x="6163056" y="4636008"/>
            <a:ext cx="210312" cy="283464"/>
          </a:xfrm>
          <a:prstGeom prst="chevron">
            <a:avLst/>
          </a:prstGeom>
          <a:solidFill>
            <a:srgbClr val="117E85"/>
          </a:solidFill>
          <a:ln w="12700">
            <a:solidFill>
              <a:srgbClr val="117E85">
                <a:alpha val="0"/>
              </a:srgbClr>
            </a:solidFill>
            <a:prstDash val="solid"/>
          </a:ln>
        </p:spPr>
      </p:sp>
      <p:sp>
        <p:nvSpPr>
          <p:cNvPr id="57" name="Shape 31"/>
          <p:cNvSpPr/>
          <p:nvPr/>
        </p:nvSpPr>
        <p:spPr>
          <a:xfrm>
            <a:off x="6409944" y="4233672"/>
            <a:ext cx="25603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58" name="Text 32"/>
          <p:cNvSpPr/>
          <p:nvPr/>
        </p:nvSpPr>
        <p:spPr>
          <a:xfrm>
            <a:off x="6574536" y="4416552"/>
            <a:ext cx="3931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E8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03</a:t>
            </a:r>
            <a:endParaRPr lang="en-US" sz="1700" b="1" dirty="0">
              <a:solidFill>
                <a:srgbClr val="117E8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59" name="Text 33"/>
          <p:cNvSpPr/>
          <p:nvPr/>
        </p:nvSpPr>
        <p:spPr>
          <a:xfrm>
            <a:off x="7022592" y="44074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Người B</a:t>
            </a:r>
            <a:endParaRPr lang="en-US" sz="1500" b="1" dirty="0">
              <a:solidFill>
                <a:srgbClr val="112B3C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60" name="Text 34"/>
          <p:cNvSpPr/>
          <p:nvPr/>
        </p:nvSpPr>
        <p:spPr>
          <a:xfrm>
            <a:off x="6583680" y="48280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Chấp nhận cuộc gọi</a:t>
            </a:r>
            <a:endParaRPr lang="en-US" sz="1100" dirty="0">
              <a:solidFill>
                <a:srgbClr val="50616A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61" name="Shape 35"/>
          <p:cNvSpPr/>
          <p:nvPr/>
        </p:nvSpPr>
        <p:spPr>
          <a:xfrm>
            <a:off x="9043416" y="4636008"/>
            <a:ext cx="210312" cy="283464"/>
          </a:xfrm>
          <a:prstGeom prst="chevron">
            <a:avLst/>
          </a:prstGeom>
          <a:solidFill>
            <a:srgbClr val="117E85"/>
          </a:solidFill>
          <a:ln w="12700">
            <a:solidFill>
              <a:srgbClr val="117E85">
                <a:alpha val="0"/>
              </a:srgbClr>
            </a:solidFill>
            <a:prstDash val="solid"/>
          </a:ln>
        </p:spPr>
      </p:sp>
      <p:sp>
        <p:nvSpPr>
          <p:cNvPr id="62" name="Text 37"/>
          <p:cNvSpPr/>
          <p:nvPr/>
        </p:nvSpPr>
        <p:spPr>
          <a:xfrm>
            <a:off x="9454896" y="4416552"/>
            <a:ext cx="39319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E8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04</a:t>
            </a:r>
            <a:endParaRPr lang="en-US" sz="1700" b="1" dirty="0">
              <a:solidFill>
                <a:srgbClr val="117E8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63" name="Shape 40"/>
          <p:cNvSpPr/>
          <p:nvPr/>
        </p:nvSpPr>
        <p:spPr>
          <a:xfrm>
            <a:off x="649224" y="5623560"/>
            <a:ext cx="10881360" cy="484632"/>
          </a:xfrm>
          <a:prstGeom prst="roundRect">
            <a:avLst>
              <a:gd name="adj" fmla="val 30189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64" name="Text 41"/>
          <p:cNvSpPr/>
          <p:nvPr/>
        </p:nvSpPr>
        <p:spPr>
          <a:xfrm>
            <a:off x="886968" y="5751576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Flutter điều khiển giao diện  •  Firebase đồng bộ tín hiệu  •  Agora truyền media thời gian thực</a:t>
            </a:r>
            <a:endParaRPr lang="en-US" sz="1200" b="1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65" name="Text Box 64"/>
          <p:cNvSpPr txBox="1"/>
          <p:nvPr/>
        </p:nvSpPr>
        <p:spPr>
          <a:xfrm>
            <a:off x="6024245" y="476885"/>
            <a:ext cx="66611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800" b="1">
                <a:solidFill>
                  <a:srgbClr val="FF0000"/>
                </a:solidFill>
              </a:rPr>
              <a:t>3.</a:t>
            </a:r>
            <a:r>
              <a:rPr lang="en-US" altLang="en-US" sz="2800" b="1">
                <a:solidFill>
                  <a:srgbClr val="FF0000"/>
                </a:solidFill>
                <a:sym typeface="Arial" panose="020B0604020202020204"/>
              </a:rPr>
              <a:t>Tích hợp và ứng dụng công nghệ</a:t>
            </a:r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endParaRPr lang="en-US" altLang="en-US" sz="28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22554" y="1581531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0616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Agora RTC SDK là một giải pháp phù hợp cho chức năng giao tiếp thời gian thực trên Flutter.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6595" y="2157730"/>
            <a:ext cx="6509385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9170" y="2349500"/>
            <a:ext cx="1811655" cy="374650"/>
          </a:xfrm>
          <a:prstGeom prst="roundRect">
            <a:avLst>
              <a:gd name="adj" fmla="val 4062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0465" y="2395220"/>
            <a:ext cx="2124710" cy="2927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7E8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KẾT LUẬN</a:t>
            </a:r>
            <a:endParaRPr lang="en-US" sz="2000" b="1" dirty="0">
              <a:solidFill>
                <a:srgbClr val="117E85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8314" y="2879979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Agora RTC SDK giúp ứng dụng: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3178" y="3465195"/>
            <a:ext cx="137160" cy="137160"/>
          </a:xfrm>
          <a:prstGeom prst="ellipse">
            <a:avLst/>
          </a:prstGeom>
          <a:solidFill>
            <a:srgbClr val="117E85"/>
          </a:solidFill>
          <a:ln w="12700">
            <a:solidFill>
              <a:srgbClr val="117E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1506" y="3364611"/>
            <a:ext cx="57607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Thực hiện gọi thoại và video theo thời gian thực.</a:t>
            </a:r>
            <a:endParaRPr lang="en-US" sz="16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3178" y="4068699"/>
            <a:ext cx="137160" cy="137160"/>
          </a:xfrm>
          <a:prstGeom prst="ellipse">
            <a:avLst/>
          </a:prstGeom>
          <a:solidFill>
            <a:srgbClr val="117E85"/>
          </a:solidFill>
          <a:ln w="12700">
            <a:solidFill>
              <a:srgbClr val="117E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1506" y="3968115"/>
            <a:ext cx="57607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Sử dụng API và hạ tầng RTC thay vì tự xây dựng từ đầu.</a:t>
            </a:r>
            <a:endParaRPr lang="en-US" sz="16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43178" y="4672203"/>
            <a:ext cx="137160" cy="137160"/>
          </a:xfrm>
          <a:prstGeom prst="ellipse">
            <a:avLst/>
          </a:prstGeom>
          <a:solidFill>
            <a:srgbClr val="117E85"/>
          </a:solidFill>
          <a:ln w="12700">
            <a:solidFill>
              <a:srgbClr val="117E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1506" y="4571619"/>
            <a:ext cx="57607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Kết hợp Flutter và Firebase để quản lý giao diện, lời mời và trạng thái cuộc gọi.</a:t>
            </a:r>
            <a:endParaRPr lang="en-US" sz="16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81545" y="2056765"/>
            <a:ext cx="4589145" cy="3667125"/>
          </a:xfrm>
          <a:prstGeom prst="roundRect">
            <a:avLst>
              <a:gd name="adj" fmla="val 4103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84185" y="2359025"/>
            <a:ext cx="2829560" cy="417830"/>
          </a:xfrm>
          <a:prstGeom prst="roundRect">
            <a:avLst>
              <a:gd name="adj" fmla="val 40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6100" y="2532380"/>
            <a:ext cx="2914650" cy="76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HƯỚNG PHÁT TRIỂN</a:t>
            </a:r>
            <a:endParaRPr lang="en-US" sz="2000" b="1" dirty="0">
              <a:solidFill>
                <a:srgbClr val="117E85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36307" y="2998851"/>
            <a:ext cx="3931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2570" y="2925445"/>
            <a:ext cx="3659505" cy="391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Tự động cấp và gia hạn RTC Token</a:t>
            </a:r>
            <a:endParaRPr lang="en-US" sz="18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36307" y="3501390"/>
            <a:ext cx="3931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44155" y="3413760"/>
            <a:ext cx="3677285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Xử lý mất kết nối và kết nối lại</a:t>
            </a:r>
            <a:endParaRPr lang="en-US" sz="16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36307" y="4022979"/>
            <a:ext cx="3931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44155" y="3933190"/>
            <a:ext cx="3455670" cy="3975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Theo dõi </a:t>
            </a: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chất lượng cuộc gọi</a:t>
            </a:r>
            <a:endParaRPr lang="en-US" sz="16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36307" y="4544568"/>
            <a:ext cx="3931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7E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95971" y="4437253"/>
            <a:ext cx="268833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313D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Mở rộng chức năng gọi nhóm</a:t>
            </a:r>
            <a:endParaRPr lang="en-US" sz="1600" dirty="0">
              <a:solidFill>
                <a:srgbClr val="1B313D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33450" y="5934075"/>
            <a:ext cx="1038758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" name="Text 3"/>
          <p:cNvSpPr/>
          <p:nvPr/>
        </p:nvSpPr>
        <p:spPr>
          <a:xfrm>
            <a:off x="594360" y="111480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Kết luận và hướng phát triển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35871" y="5413767"/>
            <a:ext cx="2841019" cy="107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" descr="图片包含 植物, 鲜花&#10;&#10;描述已自动生成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4130" y="4603219"/>
            <a:ext cx="2226055" cy="1847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28392" y="2849516"/>
            <a:ext cx="4958172" cy="4958172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2160905" y="1845310"/>
            <a:ext cx="73729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4800">
                <a:solidFill>
                  <a:srgbClr val="FF0000"/>
                </a:solidFill>
              </a:rPr>
              <a:t>Cảm ơn </a:t>
            </a:r>
            <a:r>
              <a:rPr lang="vi-VN" altLang="en-US" sz="4800">
                <a:solidFill>
                  <a:srgbClr val="FF0000"/>
                </a:solidFill>
              </a:rPr>
              <a:t>thầy và các bạn đã lắng nghe</a:t>
            </a:r>
            <a:endParaRPr lang="vi-VN" altLang="en-US" sz="4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925*320"/>
  <p:tag name="TABLE_ENDDRAG_RECT" val="23*100*925*32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6256</Words>
  <Application>WPS Presentation</Application>
  <PresentationFormat/>
  <Paragraphs>375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0" baseType="lpstr">
      <vt:lpstr>Arial</vt:lpstr>
      <vt:lpstr>SimSun</vt:lpstr>
      <vt:lpstr>Wingdings</vt:lpstr>
      <vt:lpstr>Arial</vt:lpstr>
      <vt:lpstr>Calibri</vt:lpstr>
      <vt:lpstr>Fira Sans Extra Condensed Medium</vt:lpstr>
      <vt:lpstr>Roboto</vt:lpstr>
      <vt:lpstr>Century Gothic</vt:lpstr>
      <vt:lpstr>Quicksand</vt:lpstr>
      <vt:lpstr>Fira Sans Condensed</vt:lpstr>
      <vt:lpstr>Fira Sans Medium</vt:lpstr>
      <vt:lpstr>Fira Sans</vt:lpstr>
      <vt:lpstr>Fira Sans Extra Condensed</vt:lpstr>
      <vt:lpstr>Microsoft YaHei</vt:lpstr>
      <vt:lpstr>Arial Unicode MS</vt:lpstr>
      <vt:lpstr>Arial Black</vt:lpstr>
      <vt:lpstr>Lato Light</vt:lpstr>
      <vt:lpstr>Lato</vt:lpstr>
      <vt:lpstr>Quattrocento Sans</vt:lpstr>
      <vt:lpstr>Wingdings</vt:lpstr>
      <vt:lpstr>Aptos</vt:lpstr>
      <vt:lpstr>Segoe UI</vt:lpstr>
      <vt:lpstr>Aptos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Đức</dc:creator>
  <cp:lastModifiedBy>Bùi Thị Hoài Thương</cp:lastModifiedBy>
  <cp:revision>4</cp:revision>
  <dcterms:created xsi:type="dcterms:W3CDTF">2026-10-08T15:43:18Z</dcterms:created>
  <dcterms:modified xsi:type="dcterms:W3CDTF">2026-10-08T18:28:40Z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B96BDEF29805475DBEDB137D8EBE9C1F_13</vt:lpwstr>
  </property>
</Properties>
</file>